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6" r:id="rId12"/>
    <p:sldId id="267" r:id="rId13"/>
    <p:sldId id="268" r:id="rId14"/>
    <p:sldId id="269" r:id="rId15"/>
    <p:sldId id="270" r:id="rId16"/>
    <p:sldId id="271" r:id="rId17"/>
    <p:sldId id="272" r:id="rId18"/>
    <p:sldId id="278" r:id="rId19"/>
    <p:sldId id="279" r:id="rId20"/>
    <p:sldId id="281" r:id="rId21"/>
    <p:sldId id="280" r:id="rId22"/>
    <p:sldId id="273" r:id="rId23"/>
    <p:sldId id="275" r:id="rId24"/>
    <p:sldId id="276" r:id="rId2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93F036D-E28A-415E-8EC8-ECDD0E6036F5}">
  <a:tblStyle styleId="{E93F036D-E28A-415E-8EC8-ECDD0E6036F5}" styleName="Table_0">
    <a:wholeTbl>
      <a:tcTxStyle>
        <a:font>
          <a:latin typeface="Arial"/>
          <a:ea typeface="Arial"/>
          <a:cs typeface="Arial"/>
        </a:font>
        <a:srgbClr val="000000"/>
      </a:tcTxStyle>
      <a:tcStyle>
        <a:tcBdr>
          <a:left>
            <a:ln w="6350" cap="flat" cmpd="sng">
              <a:solidFill>
                <a:srgbClr val="000000"/>
              </a:solidFill>
              <a:prstDash val="solid"/>
              <a:round/>
              <a:headEnd type="none" w="sm" len="sm"/>
              <a:tailEnd type="none" w="sm" len="sm"/>
            </a:ln>
          </a:left>
          <a:right>
            <a:ln w="6350" cap="flat" cmpd="sng">
              <a:solidFill>
                <a:srgbClr val="000000"/>
              </a:solidFill>
              <a:prstDash val="solid"/>
              <a:round/>
              <a:headEnd type="none" w="sm" len="sm"/>
              <a:tailEnd type="none" w="sm" len="sm"/>
            </a:ln>
          </a:right>
          <a:top>
            <a:ln w="6350" cap="flat" cmpd="sng">
              <a:solidFill>
                <a:srgbClr val="000000"/>
              </a:solidFill>
              <a:prstDash val="solid"/>
              <a:round/>
              <a:headEnd type="none" w="sm" len="sm"/>
              <a:tailEnd type="none" w="sm" len="sm"/>
            </a:ln>
          </a:top>
          <a:bottom>
            <a:ln w="6350" cap="flat" cmpd="sng">
              <a:solidFill>
                <a:srgbClr val="000000"/>
              </a:solidFill>
              <a:prstDash val="solid"/>
              <a:round/>
              <a:headEnd type="none" w="sm" len="sm"/>
              <a:tailEnd type="none" w="sm" len="sm"/>
            </a:ln>
          </a:bottom>
          <a:insideH>
            <a:ln w="6350" cap="flat" cmpd="sng">
              <a:solidFill>
                <a:srgbClr val="000000"/>
              </a:solidFill>
              <a:prstDash val="solid"/>
              <a:round/>
              <a:headEnd type="none" w="sm" len="sm"/>
              <a:tailEnd type="none" w="sm" len="sm"/>
            </a:ln>
          </a:insideH>
          <a:insideV>
            <a:ln w="635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54"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42c3b2548a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g242c3b2548a_1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42c3b2548a_1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g242c3b2548a_1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42c3b2548a_1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g242c3b2548a_1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42c3b2548a_1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g242c3b2548a_1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42c3b2548a_1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g242c3b2548a_1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42c3b2548a_1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242c3b2548a_1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42c3b2548a_1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242c3b2548a_1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42c3b2548a_7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g242c3b2548a_7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42c3b2548a_1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g242c3b2548a_1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42c3b2548a_1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g242c3b2548a_1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42c3b2548a_1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g242c3b2548a_1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42c3b2548a_1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g242c3b2548a_1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42c3b2548a_1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g242c3b2548a_1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42c3b2548a_9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g242c3b2548a_9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42c3b2548a_9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g242c3b2548a_9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42c3b2548a_9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g242c3b2548a_9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42c3b2548a_9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g242c3b2548a_9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81906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42c3b2548a_9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g242c3b2548a_9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4029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42c3b2548a_9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g242c3b2548a_9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93629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42c3b2548a_9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g242c3b2548a_9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52765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42c3b2548a_9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g242c3b2548a_9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42c3b2548a_1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g242c3b2548a_1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42c3b2548a_1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g242c3b2548a_1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752600" y="0"/>
            <a:ext cx="7162800" cy="1102500"/>
          </a:xfrm>
          <a:prstGeom prst="rect">
            <a:avLst/>
          </a:prstGeom>
          <a:solidFill>
            <a:srgbClr val="00B050"/>
          </a:solidFill>
          <a:ln w="9525" cap="flat" cmpd="sng">
            <a:solidFill>
              <a:srgbClr val="00B050"/>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381000" y="1428750"/>
            <a:ext cx="8534400" cy="32004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rm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pic>
        <p:nvPicPr>
          <p:cNvPr id="59" name="Google Shape;59;p14" descr="vnr.PNG"/>
          <p:cNvPicPr preferRelativeResize="0"/>
          <p:nvPr/>
        </p:nvPicPr>
        <p:blipFill rotWithShape="1">
          <a:blip r:embed="rId2">
            <a:alphaModFix/>
          </a:blip>
          <a:srcRect/>
          <a:stretch/>
        </p:blipFill>
        <p:spPr>
          <a:xfrm>
            <a:off x="228600" y="0"/>
            <a:ext cx="1140241" cy="856813"/>
          </a:xfrm>
          <a:prstGeom prst="rect">
            <a:avLst/>
          </a:prstGeom>
          <a:noFill/>
          <a:ln>
            <a:noFill/>
          </a:ln>
        </p:spPr>
      </p:pic>
      <p:sp>
        <p:nvSpPr>
          <p:cNvPr id="60" name="Google Shape;60;p14"/>
          <p:cNvSpPr txBox="1"/>
          <p:nvPr/>
        </p:nvSpPr>
        <p:spPr>
          <a:xfrm>
            <a:off x="4800600" y="4658752"/>
            <a:ext cx="4164300" cy="4617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 sz="1700" b="1" i="0" u="none" strike="noStrike" cap="none">
                <a:solidFill>
                  <a:srgbClr val="00B050"/>
                </a:solidFill>
                <a:latin typeface="Bookman Old Style"/>
                <a:ea typeface="Bookman Old Style"/>
                <a:cs typeface="Bookman Old Style"/>
                <a:sym typeface="Bookman Old Style"/>
              </a:rPr>
              <a:t>Department of </a:t>
            </a:r>
            <a:endParaRPr/>
          </a:p>
          <a:p>
            <a:pPr marL="0" marR="0" lvl="0" indent="0" algn="r" rtl="0">
              <a:spcBef>
                <a:spcPts val="0"/>
              </a:spcBef>
              <a:spcAft>
                <a:spcPts val="0"/>
              </a:spcAft>
              <a:buNone/>
            </a:pPr>
            <a:r>
              <a:rPr lang="en" sz="1700" b="1" i="0" u="none" strike="noStrike" cap="none">
                <a:solidFill>
                  <a:srgbClr val="00B050"/>
                </a:solidFill>
                <a:latin typeface="Bookman Old Style"/>
                <a:ea typeface="Bookman Old Style"/>
                <a:cs typeface="Bookman Old Style"/>
                <a:sym typeface="Bookman Old Style"/>
              </a:rPr>
              <a:t>Mechanical Engineering</a:t>
            </a:r>
            <a:endParaRPr/>
          </a:p>
        </p:txBody>
      </p:sp>
      <p:pic>
        <p:nvPicPr>
          <p:cNvPr id="61" name="Google Shape;61;p14" descr="3d-colored-gear-logo-24381763.jpg"/>
          <p:cNvPicPr preferRelativeResize="0"/>
          <p:nvPr/>
        </p:nvPicPr>
        <p:blipFill rotWithShape="1">
          <a:blip r:embed="rId3">
            <a:alphaModFix/>
          </a:blip>
          <a:srcRect/>
          <a:stretch/>
        </p:blipFill>
        <p:spPr>
          <a:xfrm>
            <a:off x="5334000" y="4687517"/>
            <a:ext cx="457200" cy="45598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 name="Google Shape;64;p15"/>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65" name="Google Shape;65;p15"/>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722313" y="3305175"/>
            <a:ext cx="7772400" cy="10215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000"/>
              <a:buFont typeface="Calibri"/>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0" name="Google Shape;70;p16"/>
          <p:cNvSpPr txBox="1">
            <a:spLocks noGrp="1"/>
          </p:cNvSpPr>
          <p:nvPr>
            <p:ph type="body" idx="1"/>
          </p:nvPr>
        </p:nvSpPr>
        <p:spPr>
          <a:xfrm>
            <a:off x="722313" y="2180035"/>
            <a:ext cx="7772400" cy="11250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71" name="Google Shape;71;p16"/>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17"/>
          <p:cNvSpPr txBox="1">
            <a:spLocks noGrp="1"/>
          </p:cNvSpPr>
          <p:nvPr>
            <p:ph type="body" idx="1"/>
          </p:nvPr>
        </p:nvSpPr>
        <p:spPr>
          <a:xfrm>
            <a:off x="457200" y="1200150"/>
            <a:ext cx="4038600" cy="33945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77" name="Google Shape;77;p17"/>
          <p:cNvSpPr txBox="1">
            <a:spLocks noGrp="1"/>
          </p:cNvSpPr>
          <p:nvPr>
            <p:ph type="body" idx="2"/>
          </p:nvPr>
        </p:nvSpPr>
        <p:spPr>
          <a:xfrm>
            <a:off x="4648200" y="1200150"/>
            <a:ext cx="4038600" cy="33945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78" name="Google Shape;78;p17"/>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17"/>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 name="Google Shape;80;p17"/>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400"/>
              <a:buFont typeface="Calibri"/>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 name="Google Shape;83;p18"/>
          <p:cNvSpPr txBox="1">
            <a:spLocks noGrp="1"/>
          </p:cNvSpPr>
          <p:nvPr>
            <p:ph type="body" idx="1"/>
          </p:nvPr>
        </p:nvSpPr>
        <p:spPr>
          <a:xfrm>
            <a:off x="457200" y="1151335"/>
            <a:ext cx="4040100" cy="4797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84" name="Google Shape;84;p18"/>
          <p:cNvSpPr txBox="1">
            <a:spLocks noGrp="1"/>
          </p:cNvSpPr>
          <p:nvPr>
            <p:ph type="body" idx="2"/>
          </p:nvPr>
        </p:nvSpPr>
        <p:spPr>
          <a:xfrm>
            <a:off x="457200" y="1631156"/>
            <a:ext cx="4040100" cy="29634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85" name="Google Shape;85;p18"/>
          <p:cNvSpPr txBox="1">
            <a:spLocks noGrp="1"/>
          </p:cNvSpPr>
          <p:nvPr>
            <p:ph type="body" idx="3"/>
          </p:nvPr>
        </p:nvSpPr>
        <p:spPr>
          <a:xfrm>
            <a:off x="4645025" y="1151335"/>
            <a:ext cx="4041900" cy="4797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86" name="Google Shape;86;p18"/>
          <p:cNvSpPr txBox="1">
            <a:spLocks noGrp="1"/>
          </p:cNvSpPr>
          <p:nvPr>
            <p:ph type="body" idx="4"/>
          </p:nvPr>
        </p:nvSpPr>
        <p:spPr>
          <a:xfrm>
            <a:off x="4645025" y="1631156"/>
            <a:ext cx="4041900" cy="29634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87" name="Google Shape;87;p18"/>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 name="Google Shape;88;p18"/>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 name="Google Shape;89;p18"/>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2" name="Google Shape;92;p19"/>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3" name="Google Shape;93;p19"/>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4" name="Google Shape;94;p1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 name="Google Shape;97;p20"/>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 name="Google Shape;98;p2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457200" y="204788"/>
            <a:ext cx="3008400" cy="8715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Calibri"/>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1" name="Google Shape;101;p21"/>
          <p:cNvSpPr txBox="1">
            <a:spLocks noGrp="1"/>
          </p:cNvSpPr>
          <p:nvPr>
            <p:ph type="body" idx="1"/>
          </p:nvPr>
        </p:nvSpPr>
        <p:spPr>
          <a:xfrm>
            <a:off x="3575050" y="204788"/>
            <a:ext cx="5111700" cy="43899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102" name="Google Shape;102;p21"/>
          <p:cNvSpPr txBox="1">
            <a:spLocks noGrp="1"/>
          </p:cNvSpPr>
          <p:nvPr>
            <p:ph type="body" idx="2"/>
          </p:nvPr>
        </p:nvSpPr>
        <p:spPr>
          <a:xfrm>
            <a:off x="457200" y="1076325"/>
            <a:ext cx="3008400" cy="35184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103" name="Google Shape;103;p21"/>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4" name="Google Shape;104;p21"/>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5" name="Google Shape;105;p21"/>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1792288" y="3600450"/>
            <a:ext cx="5486400" cy="4251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Calibri"/>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8" name="Google Shape;108;p22"/>
          <p:cNvSpPr>
            <a:spLocks noGrp="1"/>
          </p:cNvSpPr>
          <p:nvPr>
            <p:ph type="pic" idx="2"/>
          </p:nvPr>
        </p:nvSpPr>
        <p:spPr>
          <a:xfrm>
            <a:off x="1792288" y="459581"/>
            <a:ext cx="5486400" cy="3086100"/>
          </a:xfrm>
          <a:prstGeom prst="rect">
            <a:avLst/>
          </a:prstGeom>
          <a:noFill/>
          <a:ln>
            <a:noFill/>
          </a:ln>
        </p:spPr>
      </p:sp>
      <p:sp>
        <p:nvSpPr>
          <p:cNvPr id="109" name="Google Shape;109;p22"/>
          <p:cNvSpPr txBox="1">
            <a:spLocks noGrp="1"/>
          </p:cNvSpPr>
          <p:nvPr>
            <p:ph type="body" idx="1"/>
          </p:nvPr>
        </p:nvSpPr>
        <p:spPr>
          <a:xfrm>
            <a:off x="1792288" y="4025504"/>
            <a:ext cx="5486400" cy="6036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110" name="Google Shape;110;p22"/>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1" name="Google Shape;111;p22"/>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2" name="Google Shape;112;p22"/>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5" name="Google Shape;115;p23"/>
          <p:cNvSpPr txBox="1">
            <a:spLocks noGrp="1"/>
          </p:cNvSpPr>
          <p:nvPr>
            <p:ph type="body" idx="1"/>
          </p:nvPr>
        </p:nvSpPr>
        <p:spPr>
          <a:xfrm rot="5400000">
            <a:off x="2874750" y="-1217400"/>
            <a:ext cx="3394500" cy="82296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116" name="Google Shape;116;p2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7" name="Google Shape;117;p2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8" name="Google Shape;118;p2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463750" y="1371629"/>
            <a:ext cx="4388700" cy="20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1272750" y="-609572"/>
            <a:ext cx="4388700" cy="60198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3" name="Google Shape;123;p24"/>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4" name="Google Shape;124;p24"/>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7.jpeg"/><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eg"/></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5.jpeg"/></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7.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5"/>
          <p:cNvSpPr txBox="1">
            <a:spLocks noGrp="1"/>
          </p:cNvSpPr>
          <p:nvPr>
            <p:ph type="subTitle" idx="1"/>
          </p:nvPr>
        </p:nvSpPr>
        <p:spPr>
          <a:xfrm>
            <a:off x="228600" y="952500"/>
            <a:ext cx="8610600" cy="3652241"/>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800"/>
              <a:buNone/>
            </a:pPr>
            <a:r>
              <a:rPr lang="en" sz="1800" dirty="0">
                <a:solidFill>
                  <a:schemeClr val="dk1"/>
                </a:solidFill>
                <a:latin typeface="Bookman Old Style"/>
                <a:ea typeface="Bookman Old Style"/>
                <a:cs typeface="Bookman Old Style"/>
                <a:sym typeface="Bookman Old Style"/>
              </a:rPr>
              <a:t>M. SUJITH CHANDRA		19071A0333</a:t>
            </a:r>
            <a:endParaRPr dirty="0"/>
          </a:p>
          <a:p>
            <a:pPr marL="0" lvl="0" indent="0" algn="l" rtl="0">
              <a:spcBef>
                <a:spcPts val="360"/>
              </a:spcBef>
              <a:spcAft>
                <a:spcPts val="0"/>
              </a:spcAft>
              <a:buClr>
                <a:schemeClr val="dk1"/>
              </a:buClr>
              <a:buSzPts val="1800"/>
              <a:buNone/>
            </a:pPr>
            <a:r>
              <a:rPr lang="en" sz="1800" dirty="0">
                <a:solidFill>
                  <a:schemeClr val="dk1"/>
                </a:solidFill>
                <a:latin typeface="Bookman Old Style"/>
                <a:ea typeface="Bookman Old Style"/>
                <a:cs typeface="Bookman Old Style"/>
                <a:sym typeface="Bookman Old Style"/>
              </a:rPr>
              <a:t>P. SIDDARDTH			19071A0339</a:t>
            </a:r>
            <a:endParaRPr dirty="0"/>
          </a:p>
          <a:p>
            <a:pPr marL="0" lvl="0" indent="0" algn="l" rtl="0">
              <a:spcBef>
                <a:spcPts val="360"/>
              </a:spcBef>
              <a:spcAft>
                <a:spcPts val="0"/>
              </a:spcAft>
              <a:buClr>
                <a:schemeClr val="dk1"/>
              </a:buClr>
              <a:buSzPts val="1800"/>
              <a:buNone/>
            </a:pPr>
            <a:r>
              <a:rPr lang="en" sz="1800" dirty="0">
                <a:solidFill>
                  <a:schemeClr val="dk1"/>
                </a:solidFill>
                <a:latin typeface="Bookman Old Style"/>
                <a:ea typeface="Bookman Old Style"/>
                <a:cs typeface="Bookman Old Style"/>
                <a:sym typeface="Bookman Old Style"/>
              </a:rPr>
              <a:t>P.V.S. SURAJ			19071A0341</a:t>
            </a:r>
            <a:endParaRPr dirty="0"/>
          </a:p>
          <a:p>
            <a:pPr marL="0" lvl="0" indent="0" algn="l" rtl="0">
              <a:spcBef>
                <a:spcPts val="360"/>
              </a:spcBef>
              <a:spcAft>
                <a:spcPts val="0"/>
              </a:spcAft>
              <a:buClr>
                <a:schemeClr val="dk1"/>
              </a:buClr>
              <a:buSzPts val="1800"/>
              <a:buNone/>
            </a:pPr>
            <a:r>
              <a:rPr lang="en" sz="1800" dirty="0">
                <a:solidFill>
                  <a:schemeClr val="dk1"/>
                </a:solidFill>
                <a:latin typeface="Bookman Old Style"/>
                <a:ea typeface="Bookman Old Style"/>
                <a:cs typeface="Bookman Old Style"/>
                <a:sym typeface="Bookman Old Style"/>
              </a:rPr>
              <a:t>V. SIMON PRASHANTH		19071A0358</a:t>
            </a:r>
            <a:endParaRPr dirty="0"/>
          </a:p>
          <a:p>
            <a:pPr marL="0" lvl="0" indent="0" algn="l" rtl="0">
              <a:spcBef>
                <a:spcPts val="360"/>
              </a:spcBef>
              <a:spcAft>
                <a:spcPts val="0"/>
              </a:spcAft>
              <a:buClr>
                <a:srgbClr val="888888"/>
              </a:buClr>
              <a:buSzPts val="1800"/>
              <a:buNone/>
            </a:pPr>
            <a:endParaRPr sz="1800" dirty="0">
              <a:solidFill>
                <a:schemeClr val="dk1"/>
              </a:solidFill>
              <a:latin typeface="Bookman Old Style"/>
              <a:ea typeface="Bookman Old Style"/>
              <a:cs typeface="Bookman Old Style"/>
              <a:sym typeface="Bookman Old Style"/>
            </a:endParaRPr>
          </a:p>
          <a:p>
            <a:pPr marL="0" lvl="0" indent="0" algn="l" rtl="0">
              <a:spcBef>
                <a:spcPts val="360"/>
              </a:spcBef>
              <a:spcAft>
                <a:spcPts val="0"/>
              </a:spcAft>
              <a:buClr>
                <a:srgbClr val="888888"/>
              </a:buClr>
              <a:buSzPts val="1800"/>
              <a:buNone/>
            </a:pPr>
            <a:endParaRPr sz="1800" dirty="0">
              <a:solidFill>
                <a:schemeClr val="dk1"/>
              </a:solidFill>
              <a:latin typeface="Bookman Old Style"/>
              <a:ea typeface="Bookman Old Style"/>
              <a:cs typeface="Bookman Old Style"/>
              <a:sym typeface="Bookman Old Style"/>
            </a:endParaRPr>
          </a:p>
          <a:p>
            <a:pPr marL="0" lvl="0" indent="0" algn="l" rtl="0">
              <a:spcBef>
                <a:spcPts val="360"/>
              </a:spcBef>
              <a:spcAft>
                <a:spcPts val="0"/>
              </a:spcAft>
              <a:buClr>
                <a:srgbClr val="888888"/>
              </a:buClr>
              <a:buSzPts val="1800"/>
              <a:buNone/>
            </a:pPr>
            <a:endParaRPr sz="1800" dirty="0">
              <a:solidFill>
                <a:schemeClr val="dk1"/>
              </a:solidFill>
              <a:latin typeface="Bookman Old Style"/>
              <a:ea typeface="Bookman Old Style"/>
              <a:cs typeface="Bookman Old Style"/>
              <a:sym typeface="Bookman Old Style"/>
            </a:endParaRPr>
          </a:p>
          <a:p>
            <a:pPr marL="0" lvl="0" indent="0" algn="l" rtl="0">
              <a:spcBef>
                <a:spcPts val="360"/>
              </a:spcBef>
              <a:spcAft>
                <a:spcPts val="0"/>
              </a:spcAft>
              <a:buClr>
                <a:schemeClr val="dk1"/>
              </a:buClr>
              <a:buSzPts val="1800"/>
              <a:buNone/>
            </a:pPr>
            <a:r>
              <a:rPr lang="en" sz="1800" dirty="0">
                <a:solidFill>
                  <a:schemeClr val="dk1"/>
                </a:solidFill>
                <a:latin typeface="Bookman Old Style"/>
                <a:ea typeface="Bookman Old Style"/>
                <a:cs typeface="Bookman Old Style"/>
                <a:sym typeface="Bookman Old Style"/>
              </a:rPr>
              <a:t>Under the guidance of,</a:t>
            </a:r>
            <a:endParaRPr dirty="0"/>
          </a:p>
          <a:p>
            <a:pPr marL="0" lvl="0" indent="0" algn="l" rtl="0">
              <a:spcBef>
                <a:spcPts val="360"/>
              </a:spcBef>
              <a:spcAft>
                <a:spcPts val="0"/>
              </a:spcAft>
              <a:buClr>
                <a:schemeClr val="dk1"/>
              </a:buClr>
              <a:buSzPts val="1800"/>
              <a:buNone/>
            </a:pPr>
            <a:r>
              <a:rPr lang="en" sz="1800" b="1" dirty="0">
                <a:solidFill>
                  <a:schemeClr val="dk1"/>
                </a:solidFill>
                <a:latin typeface="Bookman Old Style"/>
                <a:ea typeface="Bookman Old Style"/>
                <a:cs typeface="Bookman Old Style"/>
                <a:sym typeface="Bookman Old Style"/>
              </a:rPr>
              <a:t>Dr.CH. PRIYADARSINI</a:t>
            </a:r>
            <a:endParaRPr sz="1800" dirty="0">
              <a:solidFill>
                <a:schemeClr val="dk1"/>
              </a:solidFill>
              <a:latin typeface="Bookman Old Style"/>
              <a:ea typeface="Bookman Old Style"/>
              <a:cs typeface="Bookman Old Style"/>
              <a:sym typeface="Bookman Old Style"/>
            </a:endParaRPr>
          </a:p>
          <a:p>
            <a:pPr marL="0" lvl="0" indent="0" algn="l" rtl="0">
              <a:spcBef>
                <a:spcPts val="360"/>
              </a:spcBef>
              <a:spcAft>
                <a:spcPts val="0"/>
              </a:spcAft>
              <a:buClr>
                <a:schemeClr val="dk1"/>
              </a:buClr>
              <a:buSzPts val="1800"/>
              <a:buNone/>
            </a:pPr>
            <a:r>
              <a:rPr lang="en" sz="1800" dirty="0">
                <a:solidFill>
                  <a:schemeClr val="dk1"/>
                </a:solidFill>
                <a:latin typeface="Bookman Old Style"/>
                <a:ea typeface="Bookman Old Style"/>
                <a:cs typeface="Bookman Old Style"/>
                <a:sym typeface="Bookman Old Style"/>
              </a:rPr>
              <a:t>Mechanical Engineering</a:t>
            </a:r>
            <a:endParaRPr dirty="0"/>
          </a:p>
          <a:p>
            <a:pPr marL="0" lvl="0" indent="0" algn="l" rtl="0">
              <a:spcBef>
                <a:spcPts val="360"/>
              </a:spcBef>
              <a:spcAft>
                <a:spcPts val="0"/>
              </a:spcAft>
              <a:buClr>
                <a:schemeClr val="dk1"/>
              </a:buClr>
              <a:buSzPts val="1800"/>
              <a:buNone/>
            </a:pPr>
            <a:endParaRPr sz="1800" i="1" dirty="0">
              <a:solidFill>
                <a:schemeClr val="dk1"/>
              </a:solidFill>
              <a:latin typeface="Bookman Old Style"/>
              <a:ea typeface="Bookman Old Style"/>
              <a:cs typeface="Bookman Old Style"/>
              <a:sym typeface="Bookman Old Style"/>
            </a:endParaRPr>
          </a:p>
        </p:txBody>
      </p:sp>
      <p:sp>
        <p:nvSpPr>
          <p:cNvPr id="130" name="Google Shape;130;p25"/>
          <p:cNvSpPr txBox="1">
            <a:spLocks noGrp="1"/>
          </p:cNvSpPr>
          <p:nvPr>
            <p:ph type="ctrTitle"/>
          </p:nvPr>
        </p:nvSpPr>
        <p:spPr>
          <a:xfrm>
            <a:off x="1641143" y="85725"/>
            <a:ext cx="7239000" cy="743100"/>
          </a:xfrm>
          <a:prstGeom prst="rect">
            <a:avLst/>
          </a:prstGeom>
          <a:solidFill>
            <a:srgbClr val="009900"/>
          </a:solidFill>
          <a:ln w="9525" cap="flat" cmpd="sng">
            <a:solidFill>
              <a:srgbClr val="00B05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lvl="0" indent="0" algn="ctr" rtl="0">
              <a:spcBef>
                <a:spcPts val="0"/>
              </a:spcBef>
              <a:spcAft>
                <a:spcPts val="0"/>
              </a:spcAft>
              <a:buClr>
                <a:srgbClr val="FFFF00"/>
              </a:buClr>
              <a:buSzPts val="2000"/>
              <a:buFont typeface="Bookman Old Style"/>
              <a:buNone/>
            </a:pPr>
            <a:r>
              <a:rPr lang="en" sz="1600" b="1" dirty="0">
                <a:solidFill>
                  <a:srgbClr val="FFFF00"/>
                </a:solidFill>
                <a:latin typeface="Bookman Old Style"/>
                <a:ea typeface="Bookman Old Style"/>
                <a:cs typeface="Bookman Old Style"/>
                <a:sym typeface="Bookman Old Style"/>
              </a:rPr>
              <a:t>STUDY OF STRUCTURAL, MICROSTRUCTURAL AND MECHANICAL PROPERTIES OF BOROSILICATE-BASED GLASS-CERAMIC COMPOSITES</a:t>
            </a:r>
            <a:endParaRPr sz="1600" b="1" dirty="0">
              <a:solidFill>
                <a:srgbClr val="FFFF00"/>
              </a:solidFill>
              <a:latin typeface="Bookman Old Style"/>
              <a:ea typeface="Bookman Old Style"/>
              <a:cs typeface="Bookman Old Style"/>
              <a:sym typeface="Bookman Old Styl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6"/>
          <p:cNvSpPr txBox="1">
            <a:spLocks noGrp="1"/>
          </p:cNvSpPr>
          <p:nvPr>
            <p:ph type="ctrTitle"/>
          </p:nvPr>
        </p:nvSpPr>
        <p:spPr>
          <a:xfrm>
            <a:off x="1676400" y="57150"/>
            <a:ext cx="7162800" cy="743100"/>
          </a:xfrm>
          <a:prstGeom prst="rect">
            <a:avLst/>
          </a:prstGeom>
          <a:solidFill>
            <a:srgbClr val="00990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Abstract</a:t>
            </a:r>
            <a:endParaRPr/>
          </a:p>
        </p:txBody>
      </p:sp>
      <p:sp>
        <p:nvSpPr>
          <p:cNvPr id="136" name="Google Shape;136;p26"/>
          <p:cNvSpPr txBox="1">
            <a:spLocks noGrp="1"/>
          </p:cNvSpPr>
          <p:nvPr>
            <p:ph type="subTitle" idx="1"/>
          </p:nvPr>
        </p:nvSpPr>
        <p:spPr>
          <a:xfrm>
            <a:off x="457200" y="914400"/>
            <a:ext cx="8458200" cy="371475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150000"/>
              </a:lnSpc>
              <a:spcBef>
                <a:spcPts val="360"/>
              </a:spcBef>
              <a:spcAft>
                <a:spcPts val="0"/>
              </a:spcAft>
              <a:buClr>
                <a:schemeClr val="dk1"/>
              </a:buClr>
              <a:buSzPts val="1800"/>
              <a:buNone/>
            </a:pPr>
            <a:r>
              <a:rPr lang="en-US" sz="1600" dirty="0">
                <a:solidFill>
                  <a:schemeClr val="dk1"/>
                </a:solidFill>
                <a:latin typeface="Times New Roman"/>
                <a:ea typeface="Times New Roman"/>
                <a:cs typeface="Times New Roman"/>
                <a:sym typeface="Times New Roman"/>
              </a:rPr>
              <a:t>This report examines the benefits of using Borosilicate-Alumina and Borosilicate-Copper Oxide composites in place of Borosilicate Glass. Pellets were created by compacting and sintering the materials, and their mechanical properties were tested with varying percentages of Alumina and Copper Oxide. Optical microscope analysis revealed that the composite material had increased stiffness, while SEM analysis showed the formation of chip-like structures with Alumina and nanoparticles with Copper Oxide. The composite pellets showed a substantial increase in hardness, particularly with 10% Alumina and a combination of 10% Alumina and 10% Copper Oxide. The use of these composites could provide an economical solution to the breakage and contamination issues associated with Borosilicate Glass.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7"/>
          <p:cNvSpPr txBox="1">
            <a:spLocks noGrp="1"/>
          </p:cNvSpPr>
          <p:nvPr>
            <p:ph type="ctrTitle"/>
          </p:nvPr>
        </p:nvSpPr>
        <p:spPr>
          <a:xfrm>
            <a:off x="1676400" y="76200"/>
            <a:ext cx="7162800" cy="743100"/>
          </a:xfrm>
          <a:prstGeom prst="rect">
            <a:avLst/>
          </a:prstGeom>
          <a:solidFill>
            <a:srgbClr val="00990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400"/>
              <a:buFont typeface="Bookman Old Style"/>
              <a:buNone/>
            </a:pPr>
            <a:r>
              <a:rPr lang="en" sz="2400" b="1">
                <a:solidFill>
                  <a:srgbClr val="FFFF00"/>
                </a:solidFill>
                <a:latin typeface="Bookman Old Style"/>
                <a:ea typeface="Bookman Old Style"/>
                <a:cs typeface="Bookman Old Style"/>
                <a:sym typeface="Bookman Old Style"/>
              </a:rPr>
              <a:t>Introduction to Composite Materials</a:t>
            </a:r>
            <a:endParaRPr sz="2400" b="1">
              <a:solidFill>
                <a:srgbClr val="FFFF00"/>
              </a:solidFill>
              <a:latin typeface="Bookman Old Style"/>
              <a:ea typeface="Bookman Old Style"/>
              <a:cs typeface="Bookman Old Style"/>
              <a:sym typeface="Bookman Old Style"/>
            </a:endParaRPr>
          </a:p>
        </p:txBody>
      </p:sp>
      <p:sp>
        <p:nvSpPr>
          <p:cNvPr id="142" name="Google Shape;142;p27"/>
          <p:cNvSpPr txBox="1">
            <a:spLocks noGrp="1"/>
          </p:cNvSpPr>
          <p:nvPr>
            <p:ph type="subTitle" idx="1"/>
          </p:nvPr>
        </p:nvSpPr>
        <p:spPr>
          <a:xfrm>
            <a:off x="457200" y="914400"/>
            <a:ext cx="8458200" cy="371475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spcBef>
                <a:spcPts val="360"/>
              </a:spcBef>
              <a:spcAft>
                <a:spcPts val="0"/>
              </a:spcAft>
              <a:buClr>
                <a:srgbClr val="000000"/>
              </a:buClr>
              <a:buSzPts val="1800"/>
              <a:buNone/>
            </a:pPr>
            <a:r>
              <a:rPr lang="en" sz="1600">
                <a:solidFill>
                  <a:srgbClr val="000000"/>
                </a:solidFill>
                <a:latin typeface="Times New Roman"/>
                <a:ea typeface="Times New Roman"/>
                <a:cs typeface="Times New Roman"/>
                <a:sym typeface="Times New Roman"/>
              </a:rPr>
              <a:t>Composite materials are a type of engineered material created by combining two or more distinct components with differing qualities to create a new material with improved properties. In order to create a composite material with better mechanical, thermal, electrical, and other qualities, the component elements, also known as constituent materials, are merged while maintaining their distinct features. </a:t>
            </a:r>
            <a:endParaRPr sz="1600">
              <a:solidFill>
                <a:srgbClr val="000000"/>
              </a:solidFill>
              <a:latin typeface="Times New Roman"/>
              <a:ea typeface="Times New Roman"/>
              <a:cs typeface="Times New Roman"/>
              <a:sym typeface="Times New Roman"/>
            </a:endParaRPr>
          </a:p>
          <a:p>
            <a:pPr marL="0" lvl="0" indent="0" algn="just" rtl="0">
              <a:spcBef>
                <a:spcPts val="360"/>
              </a:spcBef>
              <a:spcAft>
                <a:spcPts val="0"/>
              </a:spcAft>
              <a:buClr>
                <a:srgbClr val="000000"/>
              </a:buClr>
              <a:buSzPts val="1800"/>
              <a:buNone/>
            </a:pPr>
            <a:r>
              <a:rPr lang="en" sz="1600">
                <a:solidFill>
                  <a:srgbClr val="000000"/>
                </a:solidFill>
                <a:latin typeface="Times New Roman"/>
                <a:ea typeface="Times New Roman"/>
                <a:cs typeface="Times New Roman"/>
                <a:sym typeface="Times New Roman"/>
              </a:rPr>
              <a:t>In a number of industries, including aerospace, automotive, construction, sports equipment, and biomedical engineering, composite materials have been thoroughly explored and produced.</a:t>
            </a:r>
            <a:endParaRPr sz="1600">
              <a:solidFill>
                <a:srgbClr val="000000"/>
              </a:solidFill>
              <a:latin typeface="Times New Roman"/>
              <a:ea typeface="Times New Roman"/>
              <a:cs typeface="Times New Roman"/>
              <a:sym typeface="Times New Roman"/>
            </a:endParaRPr>
          </a:p>
          <a:p>
            <a:pPr marL="0" lvl="0" indent="0" algn="just" rtl="0">
              <a:spcBef>
                <a:spcPts val="360"/>
              </a:spcBef>
              <a:spcAft>
                <a:spcPts val="0"/>
              </a:spcAft>
              <a:buClr>
                <a:srgbClr val="888888"/>
              </a:buClr>
              <a:buSzPts val="1800"/>
              <a:buNone/>
            </a:pPr>
            <a:endParaRPr sz="1600">
              <a:latin typeface="Times New Roman"/>
              <a:ea typeface="Times New Roman"/>
              <a:cs typeface="Times New Roman"/>
              <a:sym typeface="Times New Roman"/>
            </a:endParaRPr>
          </a:p>
          <a:p>
            <a:pPr marL="0" lvl="0" indent="0" algn="just" rtl="0">
              <a:spcBef>
                <a:spcPts val="360"/>
              </a:spcBef>
              <a:spcAft>
                <a:spcPts val="0"/>
              </a:spcAft>
              <a:buClr>
                <a:srgbClr val="888888"/>
              </a:buClr>
              <a:buSzPts val="1800"/>
              <a:buNone/>
            </a:pPr>
            <a:endParaRPr sz="1600">
              <a:solidFill>
                <a:schemeClr val="dk1"/>
              </a:solidFill>
              <a:latin typeface="Times New Roman"/>
              <a:ea typeface="Times New Roman"/>
              <a:cs typeface="Times New Roman"/>
              <a:sym typeface="Times New Roman"/>
            </a:endParaRPr>
          </a:p>
        </p:txBody>
      </p:sp>
      <p:pic>
        <p:nvPicPr>
          <p:cNvPr id="143" name="Google Shape;143;p27" descr="All you need to know about Composite Materials (GUIDE) - Midwest Composites"/>
          <p:cNvPicPr preferRelativeResize="0"/>
          <p:nvPr/>
        </p:nvPicPr>
        <p:blipFill rotWithShape="1">
          <a:blip r:embed="rId3">
            <a:alphaModFix/>
          </a:blip>
          <a:srcRect t="3757" r="5580" b="3692"/>
          <a:stretch/>
        </p:blipFill>
        <p:spPr>
          <a:xfrm>
            <a:off x="2705175" y="2728675"/>
            <a:ext cx="3345174" cy="1845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8"/>
          <p:cNvSpPr txBox="1">
            <a:spLocks noGrp="1"/>
          </p:cNvSpPr>
          <p:nvPr>
            <p:ph type="ctrTitle"/>
          </p:nvPr>
        </p:nvSpPr>
        <p:spPr>
          <a:xfrm>
            <a:off x="1676400" y="76200"/>
            <a:ext cx="7162800" cy="743100"/>
          </a:xfrm>
          <a:prstGeom prst="rect">
            <a:avLst/>
          </a:prstGeom>
          <a:solidFill>
            <a:srgbClr val="00990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400"/>
              <a:buFont typeface="Bookman Old Style"/>
              <a:buNone/>
            </a:pPr>
            <a:r>
              <a:rPr lang="en" sz="2400" b="1">
                <a:solidFill>
                  <a:srgbClr val="FFFF00"/>
                </a:solidFill>
                <a:latin typeface="Bookman Old Style"/>
                <a:ea typeface="Bookman Old Style"/>
                <a:cs typeface="Bookman Old Style"/>
                <a:sym typeface="Bookman Old Style"/>
              </a:rPr>
              <a:t>Introduction to Composite Materials</a:t>
            </a:r>
            <a:endParaRPr sz="2400" b="1">
              <a:solidFill>
                <a:srgbClr val="FFFF00"/>
              </a:solidFill>
              <a:latin typeface="Bookman Old Style"/>
              <a:ea typeface="Bookman Old Style"/>
              <a:cs typeface="Bookman Old Style"/>
              <a:sym typeface="Bookman Old Style"/>
            </a:endParaRPr>
          </a:p>
        </p:txBody>
      </p:sp>
      <p:sp>
        <p:nvSpPr>
          <p:cNvPr id="149" name="Google Shape;149;p28"/>
          <p:cNvSpPr txBox="1">
            <a:spLocks noGrp="1"/>
          </p:cNvSpPr>
          <p:nvPr>
            <p:ph type="subTitle" idx="1"/>
          </p:nvPr>
        </p:nvSpPr>
        <p:spPr>
          <a:xfrm>
            <a:off x="342900" y="929250"/>
            <a:ext cx="8458200" cy="37149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spcBef>
                <a:spcPts val="360"/>
              </a:spcBef>
              <a:spcAft>
                <a:spcPts val="0"/>
              </a:spcAft>
              <a:buClr>
                <a:schemeClr val="dk1"/>
              </a:buClr>
              <a:buSzPts val="1800"/>
              <a:buFont typeface="Arial"/>
              <a:buNone/>
            </a:pPr>
            <a:r>
              <a:rPr lang="en" sz="1600">
                <a:solidFill>
                  <a:schemeClr val="dk1"/>
                </a:solidFill>
                <a:latin typeface="Times New Roman"/>
                <a:ea typeface="Times New Roman"/>
                <a:cs typeface="Times New Roman"/>
                <a:sym typeface="Times New Roman"/>
              </a:rPr>
              <a:t>Composite materials are widely used because of the special combination of qualities that make them the perfect solution for many technical issues. For instance, composite materials may be made to be both strong and light, which makes them perfect for use in aerospace applications. </a:t>
            </a: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800"/>
              <a:buNone/>
            </a:pP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800"/>
              <a:buNone/>
            </a:pPr>
            <a:r>
              <a:rPr lang="en" sz="1600">
                <a:solidFill>
                  <a:schemeClr val="dk1"/>
                </a:solidFill>
                <a:latin typeface="Times New Roman"/>
                <a:ea typeface="Times New Roman"/>
                <a:cs typeface="Times New Roman"/>
                <a:sym typeface="Times New Roman"/>
              </a:rPr>
              <a:t>Borosilicate glass is a form of glass that is mostly made </a:t>
            </a: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800"/>
              <a:buNone/>
            </a:pPr>
            <a:r>
              <a:rPr lang="en" sz="1600">
                <a:solidFill>
                  <a:schemeClr val="dk1"/>
                </a:solidFill>
                <a:latin typeface="Times New Roman"/>
                <a:ea typeface="Times New Roman"/>
                <a:cs typeface="Times New Roman"/>
                <a:sym typeface="Times New Roman"/>
              </a:rPr>
              <a:t>of boron trioxide and silica. The exceptional resilience </a:t>
            </a: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800"/>
              <a:buNone/>
            </a:pPr>
            <a:r>
              <a:rPr lang="en" sz="1600">
                <a:solidFill>
                  <a:schemeClr val="dk1"/>
                </a:solidFill>
                <a:latin typeface="Times New Roman"/>
                <a:ea typeface="Times New Roman"/>
                <a:cs typeface="Times New Roman"/>
                <a:sym typeface="Times New Roman"/>
              </a:rPr>
              <a:t>of this kind of glass to mechanical impact, chemical </a:t>
            </a: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800"/>
              <a:buFont typeface="Arial"/>
              <a:buNone/>
            </a:pPr>
            <a:r>
              <a:rPr lang="en" sz="1600">
                <a:solidFill>
                  <a:schemeClr val="dk1"/>
                </a:solidFill>
                <a:latin typeface="Times New Roman"/>
                <a:ea typeface="Times New Roman"/>
                <a:cs typeface="Times New Roman"/>
                <a:sym typeface="Times New Roman"/>
              </a:rPr>
              <a:t>corrosion, and thermal stress is well recognized.</a:t>
            </a:r>
            <a:endParaRPr sz="3000"/>
          </a:p>
          <a:p>
            <a:pPr marL="0" lvl="0" indent="0" algn="just" rtl="0">
              <a:spcBef>
                <a:spcPts val="360"/>
              </a:spcBef>
              <a:spcAft>
                <a:spcPts val="0"/>
              </a:spcAft>
              <a:buClr>
                <a:schemeClr val="dk1"/>
              </a:buClr>
              <a:buSzPts val="1800"/>
              <a:buNone/>
            </a:pPr>
            <a:endParaRPr sz="1600">
              <a:solidFill>
                <a:schemeClr val="dk1"/>
              </a:solidFill>
              <a:latin typeface="Times New Roman"/>
              <a:ea typeface="Times New Roman"/>
              <a:cs typeface="Times New Roman"/>
              <a:sym typeface="Times New Roman"/>
            </a:endParaRPr>
          </a:p>
          <a:p>
            <a:pPr marL="0" lvl="0" indent="0" algn="just" rtl="0">
              <a:spcBef>
                <a:spcPts val="360"/>
              </a:spcBef>
              <a:spcAft>
                <a:spcPts val="0"/>
              </a:spcAft>
              <a:buClr>
                <a:schemeClr val="dk1"/>
              </a:buClr>
              <a:buSzPts val="1800"/>
              <a:buNone/>
            </a:pPr>
            <a:r>
              <a:rPr lang="en" sz="1600">
                <a:solidFill>
                  <a:schemeClr val="dk1"/>
                </a:solidFill>
                <a:latin typeface="Times New Roman"/>
                <a:ea typeface="Times New Roman"/>
                <a:cs typeface="Times New Roman"/>
                <a:sym typeface="Times New Roman"/>
              </a:rPr>
              <a:t>Borosilicate glass is frequently used for home items </a:t>
            </a:r>
            <a:endParaRPr sz="1600">
              <a:solidFill>
                <a:schemeClr val="dk1"/>
              </a:solidFill>
              <a:latin typeface="Times New Roman"/>
              <a:ea typeface="Times New Roman"/>
              <a:cs typeface="Times New Roman"/>
              <a:sym typeface="Times New Roman"/>
            </a:endParaRPr>
          </a:p>
          <a:p>
            <a:pPr marL="0" lvl="0" indent="0" algn="just" rtl="0">
              <a:spcBef>
                <a:spcPts val="360"/>
              </a:spcBef>
              <a:spcAft>
                <a:spcPts val="0"/>
              </a:spcAft>
              <a:buClr>
                <a:schemeClr val="dk1"/>
              </a:buClr>
              <a:buSzPts val="1800"/>
              <a:buNone/>
            </a:pPr>
            <a:r>
              <a:rPr lang="en" sz="1600">
                <a:solidFill>
                  <a:schemeClr val="dk1"/>
                </a:solidFill>
                <a:latin typeface="Times New Roman"/>
                <a:ea typeface="Times New Roman"/>
                <a:cs typeface="Times New Roman"/>
                <a:sym typeface="Times New Roman"/>
              </a:rPr>
              <a:t>like cookware and drinkware as  well as in scientific and </a:t>
            </a:r>
            <a:endParaRPr sz="1600">
              <a:solidFill>
                <a:schemeClr val="dk1"/>
              </a:solidFill>
              <a:latin typeface="Times New Roman"/>
              <a:ea typeface="Times New Roman"/>
              <a:cs typeface="Times New Roman"/>
              <a:sym typeface="Times New Roman"/>
            </a:endParaRPr>
          </a:p>
          <a:p>
            <a:pPr marL="0" lvl="0" indent="0" algn="just" rtl="0">
              <a:spcBef>
                <a:spcPts val="360"/>
              </a:spcBef>
              <a:spcAft>
                <a:spcPts val="0"/>
              </a:spcAft>
              <a:buClr>
                <a:schemeClr val="dk1"/>
              </a:buClr>
              <a:buSzPts val="1800"/>
              <a:buNone/>
            </a:pPr>
            <a:r>
              <a:rPr lang="en" sz="1600">
                <a:solidFill>
                  <a:schemeClr val="dk1"/>
                </a:solidFill>
                <a:latin typeface="Times New Roman"/>
                <a:ea typeface="Times New Roman"/>
                <a:cs typeface="Times New Roman"/>
                <a:sym typeface="Times New Roman"/>
              </a:rPr>
              <a:t>laboratory settings.</a:t>
            </a:r>
            <a:endParaRPr sz="1600">
              <a:solidFill>
                <a:schemeClr val="dk1"/>
              </a:solidFill>
              <a:latin typeface="Times New Roman"/>
              <a:ea typeface="Times New Roman"/>
              <a:cs typeface="Times New Roman"/>
              <a:sym typeface="Times New Roman"/>
            </a:endParaRPr>
          </a:p>
        </p:txBody>
      </p:sp>
      <p:pic>
        <p:nvPicPr>
          <p:cNvPr id="150" name="Google Shape;150;p28" descr="What is Borosilicate Glass, Why it's Better? - Ablaze Export Pvt. Ltd."/>
          <p:cNvPicPr preferRelativeResize="0"/>
          <p:nvPr/>
        </p:nvPicPr>
        <p:blipFill rotWithShape="1">
          <a:blip r:embed="rId3">
            <a:alphaModFix/>
          </a:blip>
          <a:srcRect l="8166" t="6836" r="10000" b="11290"/>
          <a:stretch/>
        </p:blipFill>
        <p:spPr>
          <a:xfrm>
            <a:off x="5170825" y="1945175"/>
            <a:ext cx="3473900" cy="25029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9"/>
          <p:cNvSpPr txBox="1">
            <a:spLocks noGrp="1"/>
          </p:cNvSpPr>
          <p:nvPr>
            <p:ph type="ctrTitle"/>
          </p:nvPr>
        </p:nvSpPr>
        <p:spPr>
          <a:xfrm>
            <a:off x="1752600" y="57150"/>
            <a:ext cx="7162800" cy="742950"/>
          </a:xfrm>
          <a:prstGeom prst="rect">
            <a:avLst/>
          </a:prstGeom>
          <a:solidFill>
            <a:srgbClr val="00990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Literature Review</a:t>
            </a:r>
            <a:endParaRPr/>
          </a:p>
        </p:txBody>
      </p:sp>
      <p:sp>
        <p:nvSpPr>
          <p:cNvPr id="156" name="Google Shape;156;p29"/>
          <p:cNvSpPr txBox="1">
            <a:spLocks noGrp="1"/>
          </p:cNvSpPr>
          <p:nvPr>
            <p:ph type="subTitle" idx="1"/>
          </p:nvPr>
        </p:nvSpPr>
        <p:spPr>
          <a:xfrm>
            <a:off x="457200" y="914400"/>
            <a:ext cx="8458200" cy="38052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800"/>
              <a:buNone/>
            </a:pPr>
            <a:r>
              <a:rPr lang="en" sz="1400" b="1" dirty="0">
                <a:solidFill>
                  <a:schemeClr val="dk1"/>
                </a:solidFill>
                <a:latin typeface="Times New Roman"/>
                <a:ea typeface="Times New Roman"/>
                <a:cs typeface="Times New Roman"/>
                <a:sym typeface="Times New Roman"/>
              </a:rPr>
              <a:t>Dakuri Ramakanth et al. [1] </a:t>
            </a:r>
            <a:r>
              <a:rPr lang="en" sz="1400" dirty="0">
                <a:solidFill>
                  <a:schemeClr val="dk1"/>
                </a:solidFill>
                <a:latin typeface="Times New Roman"/>
                <a:ea typeface="Times New Roman"/>
                <a:cs typeface="Times New Roman"/>
                <a:sym typeface="Times New Roman"/>
              </a:rPr>
              <a:t>This research reviews unique hybrid packaging materials, cyclic olefins polymers with nanolayer glass, and vaccine vials for the distribution and storage of COVID-19 vaccines. With an emphasis on bar codes, rapid response codes, vaccine vial monitors, anti counterfeiting, and traceability measures, they concentrated on vaccine packaging, auto-disable syringes, stoppers, and closures, as well as a chronology of the packaging system and the labeling of the vaccine packages. </a:t>
            </a:r>
            <a:endParaRPr sz="1400" dirty="0">
              <a:solidFill>
                <a:schemeClr val="dk1"/>
              </a:solidFill>
              <a:latin typeface="Times New Roman"/>
              <a:ea typeface="Times New Roman"/>
              <a:cs typeface="Times New Roman"/>
              <a:sym typeface="Times New Roman"/>
            </a:endParaRPr>
          </a:p>
          <a:p>
            <a:pPr marL="0" lvl="0" indent="0" algn="just" rtl="0">
              <a:lnSpc>
                <a:spcPct val="100000"/>
              </a:lnSpc>
              <a:spcBef>
                <a:spcPts val="360"/>
              </a:spcBef>
              <a:spcAft>
                <a:spcPts val="0"/>
              </a:spcAft>
              <a:buClr>
                <a:schemeClr val="dk1"/>
              </a:buClr>
              <a:buSzPts val="1800"/>
              <a:buNone/>
            </a:pPr>
            <a:endParaRPr sz="1400" b="1" dirty="0">
              <a:solidFill>
                <a:schemeClr val="dk1"/>
              </a:solidFill>
              <a:latin typeface="Times New Roman"/>
              <a:ea typeface="Times New Roman"/>
              <a:cs typeface="Times New Roman"/>
              <a:sym typeface="Times New Roman"/>
            </a:endParaRPr>
          </a:p>
          <a:p>
            <a:pPr marL="0" lvl="0" indent="0" algn="just" rtl="0">
              <a:lnSpc>
                <a:spcPct val="100000"/>
              </a:lnSpc>
              <a:spcBef>
                <a:spcPts val="360"/>
              </a:spcBef>
              <a:spcAft>
                <a:spcPts val="0"/>
              </a:spcAft>
              <a:buClr>
                <a:schemeClr val="dk1"/>
              </a:buClr>
              <a:buSzPts val="1800"/>
              <a:buNone/>
            </a:pPr>
            <a:r>
              <a:rPr lang="en" sz="1400" b="1" dirty="0">
                <a:solidFill>
                  <a:schemeClr val="dk1"/>
                </a:solidFill>
                <a:latin typeface="Times New Roman"/>
                <a:ea typeface="Times New Roman"/>
                <a:cs typeface="Times New Roman"/>
                <a:sym typeface="Times New Roman"/>
              </a:rPr>
              <a:t>A. Wereszczak et al. [2] </a:t>
            </a:r>
            <a:r>
              <a:rPr lang="en" sz="1400" dirty="0">
                <a:solidFill>
                  <a:schemeClr val="dk1"/>
                </a:solidFill>
                <a:latin typeface="Times New Roman"/>
                <a:ea typeface="Times New Roman"/>
                <a:cs typeface="Times New Roman"/>
                <a:sym typeface="Times New Roman"/>
              </a:rPr>
              <a:t>This paper examines the strength and contact damage responses of soda-lime-silicate and borosilicate glass. This essay provides information on the mechanical, chemical, and other characteristics of borosilicate and soda-lime glass that are being studied.</a:t>
            </a:r>
            <a:endParaRPr sz="1400" dirty="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800"/>
              <a:buNone/>
            </a:pPr>
            <a:endParaRPr sz="1400" b="1" dirty="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800"/>
              <a:buFont typeface="Arial"/>
              <a:buNone/>
            </a:pPr>
            <a:r>
              <a:rPr lang="en" sz="1400" b="1" dirty="0">
                <a:solidFill>
                  <a:schemeClr val="dk1"/>
                </a:solidFill>
                <a:latin typeface="Times New Roman"/>
                <a:ea typeface="Times New Roman"/>
                <a:cs typeface="Times New Roman"/>
                <a:sym typeface="Times New Roman"/>
              </a:rPr>
              <a:t>Sebastian Bruns et al. [3] </a:t>
            </a:r>
            <a:r>
              <a:rPr lang="en" sz="1400" dirty="0">
                <a:solidFill>
                  <a:schemeClr val="dk1"/>
                </a:solidFill>
                <a:latin typeface="Times New Roman"/>
                <a:ea typeface="Times New Roman"/>
                <a:cs typeface="Times New Roman"/>
                <a:sym typeface="Times New Roman"/>
              </a:rPr>
              <a:t>The addition of Al2O3 caused structural changes in the borosilicate glass, including the formation of new bonds and changes in the coordination of the network-forming cations. The mechanical characteristics of the glass were enhanced as a result of these modifications, including an increase in hardness, fracture toughness, and compressive strength.The research also revealed that between 5-7 mol% of Al2O3 was the ideal amount to add to borosilicate glass, as higher amounts decreased the glass transition temperature and reduced the mechanical properties.</a:t>
            </a:r>
            <a:endParaRPr sz="1400" dirty="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0"/>
          <p:cNvSpPr txBox="1">
            <a:spLocks noGrp="1"/>
          </p:cNvSpPr>
          <p:nvPr>
            <p:ph type="subTitle" idx="1"/>
          </p:nvPr>
        </p:nvSpPr>
        <p:spPr>
          <a:xfrm>
            <a:off x="457200" y="849800"/>
            <a:ext cx="8458200" cy="38502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spcBef>
                <a:spcPts val="360"/>
              </a:spcBef>
              <a:spcAft>
                <a:spcPts val="0"/>
              </a:spcAft>
              <a:buClr>
                <a:schemeClr val="dk1"/>
              </a:buClr>
              <a:buSzPts val="1800"/>
              <a:buNone/>
            </a:pPr>
            <a:r>
              <a:rPr lang="en" sz="1400" b="1" dirty="0">
                <a:solidFill>
                  <a:schemeClr val="dk1"/>
                </a:solidFill>
                <a:latin typeface="Times New Roman"/>
                <a:ea typeface="Times New Roman"/>
                <a:cs typeface="Times New Roman"/>
                <a:sym typeface="Times New Roman"/>
              </a:rPr>
              <a:t>Poussy Aly et al. [4] </a:t>
            </a:r>
            <a:r>
              <a:rPr lang="en" sz="1400" dirty="0">
                <a:solidFill>
                  <a:schemeClr val="dk1"/>
                </a:solidFill>
                <a:latin typeface="Times New Roman"/>
                <a:ea typeface="Times New Roman"/>
                <a:cs typeface="Times New Roman"/>
                <a:sym typeface="Times New Roman"/>
              </a:rPr>
              <a:t>In this study, alternative transparent amorphous borosilicate glass systems incorporating metal oxides comprising PbO, BaO, and SrO at different concentrations were tested as gamma-ray shielding materials. Analysis of the results obtained for the prepared samples was compared in terms of the half-value layer and density for some glass matrices used in the industry comprising RD-30 and LX-57B, where the aim was to determine the effectiveness of the glass matrices at protecting against gamma radiations discussed.</a:t>
            </a:r>
          </a:p>
          <a:p>
            <a:pPr marL="0" lvl="0" indent="0" algn="just" rtl="0">
              <a:spcBef>
                <a:spcPts val="360"/>
              </a:spcBef>
              <a:spcAft>
                <a:spcPts val="0"/>
              </a:spcAft>
              <a:buClr>
                <a:schemeClr val="dk1"/>
              </a:buClr>
              <a:buSzPts val="1800"/>
              <a:buNone/>
            </a:pPr>
            <a:endParaRPr sz="1400" b="1" dirty="0">
              <a:solidFill>
                <a:schemeClr val="dk1"/>
              </a:solidFill>
              <a:latin typeface="Times New Roman"/>
              <a:ea typeface="Times New Roman"/>
              <a:cs typeface="Times New Roman"/>
              <a:sym typeface="Times New Roman"/>
            </a:endParaRPr>
          </a:p>
          <a:p>
            <a:pPr marL="0" lvl="0" indent="0" algn="just" rtl="0">
              <a:spcBef>
                <a:spcPts val="360"/>
              </a:spcBef>
              <a:spcAft>
                <a:spcPts val="0"/>
              </a:spcAft>
              <a:buClr>
                <a:schemeClr val="dk1"/>
              </a:buClr>
              <a:buSzPts val="1800"/>
              <a:buNone/>
            </a:pPr>
            <a:r>
              <a:rPr lang="en" sz="1400" b="1" dirty="0">
                <a:solidFill>
                  <a:schemeClr val="dk1"/>
                </a:solidFill>
                <a:latin typeface="Times New Roman"/>
                <a:ea typeface="Times New Roman"/>
                <a:cs typeface="Times New Roman"/>
                <a:sym typeface="Times New Roman"/>
              </a:rPr>
              <a:t>Aldo R. Boccaccini et al. [5] </a:t>
            </a:r>
            <a:r>
              <a:rPr lang="en" sz="1400" dirty="0">
                <a:solidFill>
                  <a:schemeClr val="dk1"/>
                </a:solidFill>
                <a:latin typeface="Times New Roman"/>
                <a:ea typeface="Times New Roman"/>
                <a:cs typeface="Times New Roman"/>
                <a:sym typeface="Times New Roman"/>
              </a:rPr>
              <a:t>Calcination and addition of Alumina rich residue improved the properties compared to pure BSG glass with the best balance between strength, density, and crystalline volume. Though the formation of cristobalite was not possible with sintering, the valoxy evolved gases that were entrapped and formed closed pores, and with the increase in temperature, the pores grew in size, leading to a reduction in strength.</a:t>
            </a:r>
          </a:p>
          <a:p>
            <a:pPr marL="0" lvl="0" indent="0" algn="just" rtl="0">
              <a:spcBef>
                <a:spcPts val="360"/>
              </a:spcBef>
              <a:spcAft>
                <a:spcPts val="0"/>
              </a:spcAft>
              <a:buClr>
                <a:schemeClr val="dk1"/>
              </a:buClr>
              <a:buSzPts val="1800"/>
              <a:buNone/>
            </a:pPr>
            <a:endParaRPr sz="1400" dirty="0">
              <a:solidFill>
                <a:schemeClr val="dk1"/>
              </a:solidFill>
              <a:latin typeface="Times New Roman"/>
              <a:ea typeface="Times New Roman"/>
              <a:cs typeface="Times New Roman"/>
              <a:sym typeface="Times New Roman"/>
            </a:endParaRPr>
          </a:p>
          <a:p>
            <a:pPr marL="0" lvl="0" indent="0" algn="just" rtl="0">
              <a:spcBef>
                <a:spcPts val="360"/>
              </a:spcBef>
              <a:spcAft>
                <a:spcPts val="0"/>
              </a:spcAft>
              <a:buClr>
                <a:srgbClr val="888888"/>
              </a:buClr>
              <a:buSzPts val="1800"/>
              <a:buNone/>
            </a:pPr>
            <a:r>
              <a:rPr lang="en" sz="1400" b="1" dirty="0">
                <a:solidFill>
                  <a:schemeClr val="dk1"/>
                </a:solidFill>
                <a:latin typeface="Times New Roman"/>
                <a:ea typeface="Times New Roman"/>
                <a:cs typeface="Times New Roman"/>
                <a:sym typeface="Times New Roman"/>
              </a:rPr>
              <a:t>G. Banu Prakash et al. [6]</a:t>
            </a:r>
            <a:r>
              <a:rPr lang="en" sz="1400" dirty="0">
                <a:solidFill>
                  <a:schemeClr val="dk1"/>
                </a:solidFill>
                <a:latin typeface="Times New Roman"/>
                <a:ea typeface="Times New Roman"/>
                <a:cs typeface="Times New Roman"/>
                <a:sym typeface="Times New Roman"/>
              </a:rPr>
              <a:t> The gain in fracture toughness at room temperature is considerably smaller than the value expected from the dispersion of metallic particles in a brittle matrix. Microcracking at the interfaces appears to be responsible for the poor toughness. The apparent viscosity of composites at a given temperature was not influenced by the dispersed phase content. Trends in the variations of flow stress and viscosity of composites can be attributed to the soft and ductile nature of dispersed Cu in the glass matrix. </a:t>
            </a:r>
            <a:endParaRPr sz="1400" dirty="0">
              <a:solidFill>
                <a:schemeClr val="dk1"/>
              </a:solidFill>
              <a:latin typeface="Times New Roman"/>
              <a:ea typeface="Times New Roman"/>
              <a:cs typeface="Times New Roman"/>
              <a:sym typeface="Times New Roman"/>
            </a:endParaRPr>
          </a:p>
        </p:txBody>
      </p:sp>
      <p:sp>
        <p:nvSpPr>
          <p:cNvPr id="162" name="Google Shape;162;p30"/>
          <p:cNvSpPr txBox="1">
            <a:spLocks noGrp="1"/>
          </p:cNvSpPr>
          <p:nvPr>
            <p:ph type="ctrTitle"/>
          </p:nvPr>
        </p:nvSpPr>
        <p:spPr>
          <a:xfrm>
            <a:off x="1752600" y="57150"/>
            <a:ext cx="7162800" cy="742950"/>
          </a:xfrm>
          <a:prstGeom prst="rect">
            <a:avLst/>
          </a:prstGeom>
          <a:solidFill>
            <a:srgbClr val="00990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Literature Review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1"/>
          <p:cNvSpPr txBox="1">
            <a:spLocks noGrp="1"/>
          </p:cNvSpPr>
          <p:nvPr>
            <p:ph type="ctrTitle"/>
          </p:nvPr>
        </p:nvSpPr>
        <p:spPr>
          <a:xfrm>
            <a:off x="1524000" y="38100"/>
            <a:ext cx="7391400" cy="800100"/>
          </a:xfrm>
          <a:prstGeom prst="rect">
            <a:avLst/>
          </a:prstGeom>
          <a:solidFill>
            <a:srgbClr val="00990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Objectives</a:t>
            </a:r>
            <a:endParaRPr/>
          </a:p>
        </p:txBody>
      </p:sp>
      <p:sp>
        <p:nvSpPr>
          <p:cNvPr id="168" name="Google Shape;168;p31"/>
          <p:cNvSpPr txBox="1">
            <a:spLocks noGrp="1"/>
          </p:cNvSpPr>
          <p:nvPr>
            <p:ph type="subTitle" idx="1"/>
          </p:nvPr>
        </p:nvSpPr>
        <p:spPr>
          <a:xfrm>
            <a:off x="457200" y="1028700"/>
            <a:ext cx="8458200" cy="35433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360"/>
              </a:spcBef>
              <a:spcAft>
                <a:spcPts val="0"/>
              </a:spcAft>
              <a:buNone/>
            </a:pPr>
            <a:endParaRPr sz="1800" dirty="0">
              <a:solidFill>
                <a:schemeClr val="dk1"/>
              </a:solidFill>
              <a:latin typeface="Times New Roman"/>
              <a:ea typeface="Times New Roman"/>
              <a:cs typeface="Times New Roman"/>
              <a:sym typeface="Times New Roman"/>
            </a:endParaRPr>
          </a:p>
          <a:p>
            <a:pPr marL="342900" lvl="0" indent="-342900" algn="l" rtl="0">
              <a:spcBef>
                <a:spcPts val="360"/>
              </a:spcBef>
              <a:spcAft>
                <a:spcPts val="0"/>
              </a:spcAft>
              <a:buClr>
                <a:schemeClr val="dk1"/>
              </a:buClr>
              <a:buSzPts val="1800"/>
              <a:buFont typeface="Times New Roman"/>
              <a:buAutoNum type="arabicPeriod"/>
            </a:pPr>
            <a:r>
              <a:rPr lang="en" sz="1800" dirty="0">
                <a:solidFill>
                  <a:schemeClr val="dk1"/>
                </a:solidFill>
                <a:latin typeface="Times New Roman"/>
                <a:ea typeface="Times New Roman"/>
                <a:cs typeface="Times New Roman"/>
                <a:sym typeface="Times New Roman"/>
              </a:rPr>
              <a:t>Study and Selection of Reinforcement Material for Borosilicate.</a:t>
            </a:r>
            <a:endParaRPr sz="1800" dirty="0">
              <a:solidFill>
                <a:schemeClr val="dk1"/>
              </a:solidFill>
              <a:latin typeface="Times New Roman"/>
              <a:ea typeface="Times New Roman"/>
              <a:cs typeface="Times New Roman"/>
              <a:sym typeface="Times New Roman"/>
            </a:endParaRPr>
          </a:p>
          <a:p>
            <a:pPr marL="0" lvl="0" indent="0" algn="l" rtl="0">
              <a:spcBef>
                <a:spcPts val="360"/>
              </a:spcBef>
              <a:spcAft>
                <a:spcPts val="0"/>
              </a:spcAft>
              <a:buNone/>
            </a:pPr>
            <a:endParaRPr sz="1800" dirty="0">
              <a:solidFill>
                <a:schemeClr val="dk1"/>
              </a:solidFill>
              <a:latin typeface="Times New Roman"/>
              <a:ea typeface="Times New Roman"/>
              <a:cs typeface="Times New Roman"/>
              <a:sym typeface="Times New Roman"/>
            </a:endParaRPr>
          </a:p>
          <a:p>
            <a:pPr marL="0" lvl="0" indent="0" algn="l" rtl="0">
              <a:spcBef>
                <a:spcPts val="360"/>
              </a:spcBef>
              <a:spcAft>
                <a:spcPts val="0"/>
              </a:spcAft>
              <a:buClr>
                <a:schemeClr val="dk1"/>
              </a:buClr>
              <a:buSzPts val="1800"/>
            </a:pPr>
            <a:r>
              <a:rPr lang="en" sz="1800" dirty="0">
                <a:solidFill>
                  <a:schemeClr val="dk1"/>
                </a:solidFill>
                <a:latin typeface="Times New Roman"/>
                <a:ea typeface="Times New Roman"/>
                <a:cs typeface="Times New Roman"/>
                <a:sym typeface="Times New Roman"/>
              </a:rPr>
              <a:t>2.   Fabrication of composite pellets of various compositions consisting of the selected materials with Borosilicate. </a:t>
            </a:r>
            <a:endParaRPr sz="1800" dirty="0">
              <a:solidFill>
                <a:schemeClr val="dk1"/>
              </a:solidFill>
              <a:latin typeface="Times New Roman"/>
              <a:ea typeface="Times New Roman"/>
              <a:cs typeface="Times New Roman"/>
              <a:sym typeface="Times New Roman"/>
            </a:endParaRPr>
          </a:p>
          <a:p>
            <a:pPr marL="0" lvl="0" indent="0" algn="l" rtl="0">
              <a:spcBef>
                <a:spcPts val="360"/>
              </a:spcBef>
              <a:spcAft>
                <a:spcPts val="0"/>
              </a:spcAft>
              <a:buNone/>
            </a:pPr>
            <a:endParaRPr sz="1800" dirty="0">
              <a:solidFill>
                <a:schemeClr val="dk1"/>
              </a:solidFill>
              <a:latin typeface="Times New Roman"/>
              <a:ea typeface="Times New Roman"/>
              <a:cs typeface="Times New Roman"/>
              <a:sym typeface="Times New Roman"/>
            </a:endParaRPr>
          </a:p>
          <a:p>
            <a:pPr marL="342900" lvl="0" indent="-342900" algn="l" rtl="0">
              <a:spcBef>
                <a:spcPts val="360"/>
              </a:spcBef>
              <a:spcAft>
                <a:spcPts val="0"/>
              </a:spcAft>
              <a:buClr>
                <a:schemeClr val="dk1"/>
              </a:buClr>
              <a:buSzPts val="1800"/>
              <a:buAutoNum type="arabicPeriod" startAt="3"/>
            </a:pPr>
            <a:r>
              <a:rPr lang="en" sz="1800" dirty="0">
                <a:solidFill>
                  <a:schemeClr val="dk1"/>
                </a:solidFill>
                <a:latin typeface="Times New Roman"/>
                <a:ea typeface="Times New Roman"/>
                <a:cs typeface="Times New Roman"/>
                <a:sym typeface="Times New Roman"/>
              </a:rPr>
              <a:t>Testing of the composites prepared for Structure, Microstructure, and Mechanical properties by appropriate testing methods.</a:t>
            </a: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2"/>
          <p:cNvSpPr txBox="1">
            <a:spLocks noGrp="1"/>
          </p:cNvSpPr>
          <p:nvPr>
            <p:ph type="ctrTitle"/>
          </p:nvPr>
        </p:nvSpPr>
        <p:spPr>
          <a:xfrm>
            <a:off x="1524000" y="114300"/>
            <a:ext cx="7391400" cy="800100"/>
          </a:xfrm>
          <a:prstGeom prst="rect">
            <a:avLst/>
          </a:prstGeom>
          <a:solidFill>
            <a:srgbClr val="009900"/>
          </a:solidFill>
          <a:ln>
            <a:noFill/>
          </a:ln>
          <a:effectLst>
            <a:outerShdw blurRad="40000" dist="20000" dir="5400000" rotWithShape="0">
              <a:srgbClr val="000000">
                <a:alpha val="3765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Work Methodology</a:t>
            </a:r>
            <a:endParaRPr/>
          </a:p>
        </p:txBody>
      </p:sp>
      <p:grpSp>
        <p:nvGrpSpPr>
          <p:cNvPr id="174" name="Google Shape;174;p32"/>
          <p:cNvGrpSpPr/>
          <p:nvPr/>
        </p:nvGrpSpPr>
        <p:grpSpPr>
          <a:xfrm>
            <a:off x="1682300" y="1011650"/>
            <a:ext cx="5779406" cy="3639701"/>
            <a:chOff x="0" y="3106"/>
            <a:chExt cx="11354433" cy="10739750"/>
          </a:xfrm>
        </p:grpSpPr>
        <p:sp>
          <p:nvSpPr>
            <p:cNvPr id="175" name="Google Shape;175;p32"/>
            <p:cNvSpPr/>
            <p:nvPr/>
          </p:nvSpPr>
          <p:spPr>
            <a:xfrm>
              <a:off x="0" y="9928356"/>
              <a:ext cx="11354400" cy="814500"/>
            </a:xfrm>
            <a:prstGeom prst="rect">
              <a:avLst/>
            </a:prstGeom>
            <a:solidFill>
              <a:srgbClr val="BF504D"/>
            </a:solidFill>
            <a:ln w="38100" cap="flat" cmpd="sng">
              <a:solidFill>
                <a:srgbClr val="FFFFFF"/>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22075" tIns="22075" rIns="22075" bIns="22075" anchor="ctr" anchorCtr="0">
              <a:noAutofit/>
            </a:bodyPr>
            <a:lstStyle/>
            <a:p>
              <a:pPr marL="0" lvl="0" indent="0" algn="l" rtl="0">
                <a:spcBef>
                  <a:spcPts val="0"/>
                </a:spcBef>
                <a:spcAft>
                  <a:spcPts val="0"/>
                </a:spcAft>
                <a:buNone/>
              </a:pPr>
              <a:endParaRPr/>
            </a:p>
          </p:txBody>
        </p:sp>
        <p:sp>
          <p:nvSpPr>
            <p:cNvPr id="176" name="Google Shape;176;p32"/>
            <p:cNvSpPr txBox="1"/>
            <p:nvPr/>
          </p:nvSpPr>
          <p:spPr>
            <a:xfrm>
              <a:off x="0" y="9928356"/>
              <a:ext cx="11354400" cy="814500"/>
            </a:xfrm>
            <a:prstGeom prst="rect">
              <a:avLst/>
            </a:prstGeom>
            <a:noFill/>
            <a:ln>
              <a:noFill/>
            </a:ln>
          </p:spPr>
          <p:txBody>
            <a:bodyPr spcFirstLastPara="1" wrap="square" lIns="68675" tIns="68675" rIns="68675" bIns="68675" anchor="ctr" anchorCtr="0">
              <a:noAutofit/>
            </a:bodyPr>
            <a:lstStyle/>
            <a:p>
              <a:pPr marL="0" marR="0" lvl="0" indent="0" algn="ctr" rtl="0">
                <a:lnSpc>
                  <a:spcPct val="90000"/>
                </a:lnSpc>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Testing the Pellet composites</a:t>
              </a:r>
              <a:endParaRPr sz="300"/>
            </a:p>
          </p:txBody>
        </p:sp>
        <p:sp>
          <p:nvSpPr>
            <p:cNvPr id="177" name="Google Shape;177;p32"/>
            <p:cNvSpPr/>
            <p:nvPr/>
          </p:nvSpPr>
          <p:spPr>
            <a:xfrm rot="10800000">
              <a:off x="33" y="8687775"/>
              <a:ext cx="11354400" cy="1252800"/>
            </a:xfrm>
            <a:prstGeom prst="upArrowCallout">
              <a:avLst>
                <a:gd name="adj1" fmla="val 25000"/>
                <a:gd name="adj2" fmla="val 25000"/>
                <a:gd name="adj3" fmla="val 25000"/>
                <a:gd name="adj4" fmla="val 64977"/>
              </a:avLst>
            </a:prstGeom>
            <a:solidFill>
              <a:srgbClr val="9BBB59"/>
            </a:solidFill>
            <a:ln w="38100" cap="flat" cmpd="sng">
              <a:solidFill>
                <a:srgbClr val="FFFFFF"/>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22075" tIns="22075" rIns="22075" bIns="22075" anchor="ctr" anchorCtr="0">
              <a:noAutofit/>
            </a:bodyPr>
            <a:lstStyle/>
            <a:p>
              <a:pPr marL="0" lvl="0" indent="0" algn="l" rtl="0">
                <a:spcBef>
                  <a:spcPts val="0"/>
                </a:spcBef>
                <a:spcAft>
                  <a:spcPts val="0"/>
                </a:spcAft>
                <a:buNone/>
              </a:pPr>
              <a:endParaRPr/>
            </a:p>
          </p:txBody>
        </p:sp>
        <p:sp>
          <p:nvSpPr>
            <p:cNvPr id="178" name="Google Shape;178;p32"/>
            <p:cNvSpPr txBox="1"/>
            <p:nvPr/>
          </p:nvSpPr>
          <p:spPr>
            <a:xfrm>
              <a:off x="0" y="8687700"/>
              <a:ext cx="11354400" cy="814200"/>
            </a:xfrm>
            <a:prstGeom prst="rect">
              <a:avLst/>
            </a:prstGeom>
            <a:noFill/>
            <a:ln>
              <a:noFill/>
            </a:ln>
          </p:spPr>
          <p:txBody>
            <a:bodyPr spcFirstLastPara="1" wrap="square" lIns="68675" tIns="68675" rIns="68675" bIns="68675" anchor="ctr" anchorCtr="0">
              <a:noAutofit/>
            </a:bodyPr>
            <a:lstStyle/>
            <a:p>
              <a:pPr marL="0" marR="0" lvl="0" indent="0" algn="ctr" rtl="0">
                <a:lnSpc>
                  <a:spcPct val="90000"/>
                </a:lnSpc>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Sintering the Pellets in a Muffle Furnace</a:t>
              </a:r>
              <a:endParaRPr sz="300"/>
            </a:p>
          </p:txBody>
        </p:sp>
        <p:sp>
          <p:nvSpPr>
            <p:cNvPr id="179" name="Google Shape;179;p32"/>
            <p:cNvSpPr/>
            <p:nvPr/>
          </p:nvSpPr>
          <p:spPr>
            <a:xfrm rot="10800000">
              <a:off x="33" y="7447118"/>
              <a:ext cx="11354400" cy="1252800"/>
            </a:xfrm>
            <a:prstGeom prst="upArrowCallout">
              <a:avLst>
                <a:gd name="adj1" fmla="val 25000"/>
                <a:gd name="adj2" fmla="val 25000"/>
                <a:gd name="adj3" fmla="val 25000"/>
                <a:gd name="adj4" fmla="val 64977"/>
              </a:avLst>
            </a:prstGeom>
            <a:solidFill>
              <a:srgbClr val="8064A2"/>
            </a:solidFill>
            <a:ln w="38100" cap="flat" cmpd="sng">
              <a:solidFill>
                <a:srgbClr val="FFFFFF"/>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22075" tIns="22075" rIns="22075" bIns="22075" anchor="ctr" anchorCtr="0">
              <a:noAutofit/>
            </a:bodyPr>
            <a:lstStyle/>
            <a:p>
              <a:pPr marL="0" lvl="0" indent="0" algn="l" rtl="0">
                <a:spcBef>
                  <a:spcPts val="0"/>
                </a:spcBef>
                <a:spcAft>
                  <a:spcPts val="0"/>
                </a:spcAft>
                <a:buNone/>
              </a:pPr>
              <a:endParaRPr/>
            </a:p>
          </p:txBody>
        </p:sp>
        <p:sp>
          <p:nvSpPr>
            <p:cNvPr id="180" name="Google Shape;180;p32"/>
            <p:cNvSpPr txBox="1"/>
            <p:nvPr/>
          </p:nvSpPr>
          <p:spPr>
            <a:xfrm>
              <a:off x="0" y="7447043"/>
              <a:ext cx="11354400" cy="814200"/>
            </a:xfrm>
            <a:prstGeom prst="rect">
              <a:avLst/>
            </a:prstGeom>
            <a:noFill/>
            <a:ln>
              <a:noFill/>
            </a:ln>
          </p:spPr>
          <p:txBody>
            <a:bodyPr spcFirstLastPara="1" wrap="square" lIns="68675" tIns="68675" rIns="68675" bIns="68675" anchor="ctr" anchorCtr="0">
              <a:noAutofit/>
            </a:bodyPr>
            <a:lstStyle/>
            <a:p>
              <a:pPr marL="0" marR="0" lvl="0" indent="0" algn="ctr" rtl="0">
                <a:lnSpc>
                  <a:spcPct val="90000"/>
                </a:lnSpc>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Manufacturing pellets with Hydraulic press</a:t>
              </a:r>
              <a:endParaRPr sz="300"/>
            </a:p>
          </p:txBody>
        </p:sp>
        <p:sp>
          <p:nvSpPr>
            <p:cNvPr id="181" name="Google Shape;181;p32"/>
            <p:cNvSpPr/>
            <p:nvPr/>
          </p:nvSpPr>
          <p:spPr>
            <a:xfrm rot="10800000">
              <a:off x="33" y="6206462"/>
              <a:ext cx="11354400" cy="1252800"/>
            </a:xfrm>
            <a:prstGeom prst="upArrowCallout">
              <a:avLst>
                <a:gd name="adj1" fmla="val 25000"/>
                <a:gd name="adj2" fmla="val 25000"/>
                <a:gd name="adj3" fmla="val 25000"/>
                <a:gd name="adj4" fmla="val 64977"/>
              </a:avLst>
            </a:prstGeom>
            <a:solidFill>
              <a:srgbClr val="49ACC5"/>
            </a:solidFill>
            <a:ln w="38100" cap="flat" cmpd="sng">
              <a:solidFill>
                <a:srgbClr val="FFFFFF"/>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22075" tIns="22075" rIns="22075" bIns="22075" anchor="ctr" anchorCtr="0">
              <a:noAutofit/>
            </a:bodyPr>
            <a:lstStyle/>
            <a:p>
              <a:pPr marL="0" lvl="0" indent="0" algn="l" rtl="0">
                <a:spcBef>
                  <a:spcPts val="0"/>
                </a:spcBef>
                <a:spcAft>
                  <a:spcPts val="0"/>
                </a:spcAft>
                <a:buNone/>
              </a:pPr>
              <a:endParaRPr/>
            </a:p>
          </p:txBody>
        </p:sp>
        <p:sp>
          <p:nvSpPr>
            <p:cNvPr id="182" name="Google Shape;182;p32"/>
            <p:cNvSpPr txBox="1"/>
            <p:nvPr/>
          </p:nvSpPr>
          <p:spPr>
            <a:xfrm>
              <a:off x="0" y="6206387"/>
              <a:ext cx="11354400" cy="814200"/>
            </a:xfrm>
            <a:prstGeom prst="rect">
              <a:avLst/>
            </a:prstGeom>
            <a:noFill/>
            <a:ln>
              <a:noFill/>
            </a:ln>
          </p:spPr>
          <p:txBody>
            <a:bodyPr spcFirstLastPara="1" wrap="square" lIns="68675" tIns="68675" rIns="68675" bIns="68675" anchor="ctr" anchorCtr="0">
              <a:noAutofit/>
            </a:bodyPr>
            <a:lstStyle/>
            <a:p>
              <a:pPr marL="0" marR="0" lvl="0" indent="0" algn="ctr" rtl="0">
                <a:lnSpc>
                  <a:spcPct val="90000"/>
                </a:lnSpc>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Mixing the Materials through Grinding</a:t>
              </a:r>
              <a:endParaRPr sz="300"/>
            </a:p>
          </p:txBody>
        </p:sp>
        <p:sp>
          <p:nvSpPr>
            <p:cNvPr id="183" name="Google Shape;183;p32"/>
            <p:cNvSpPr/>
            <p:nvPr/>
          </p:nvSpPr>
          <p:spPr>
            <a:xfrm rot="10800000">
              <a:off x="33" y="4965806"/>
              <a:ext cx="11354400" cy="1252800"/>
            </a:xfrm>
            <a:prstGeom prst="upArrowCallout">
              <a:avLst>
                <a:gd name="adj1" fmla="val 25000"/>
                <a:gd name="adj2" fmla="val 25000"/>
                <a:gd name="adj3" fmla="val 25000"/>
                <a:gd name="adj4" fmla="val 64977"/>
              </a:avLst>
            </a:prstGeom>
            <a:solidFill>
              <a:srgbClr val="F79543"/>
            </a:solidFill>
            <a:ln w="38100" cap="flat" cmpd="sng">
              <a:solidFill>
                <a:srgbClr val="FFFFFF"/>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22075" tIns="22075" rIns="22075" bIns="22075" anchor="ctr" anchorCtr="0">
              <a:noAutofit/>
            </a:bodyPr>
            <a:lstStyle/>
            <a:p>
              <a:pPr marL="0" lvl="0" indent="0" algn="l" rtl="0">
                <a:spcBef>
                  <a:spcPts val="0"/>
                </a:spcBef>
                <a:spcAft>
                  <a:spcPts val="0"/>
                </a:spcAft>
                <a:buNone/>
              </a:pPr>
              <a:endParaRPr/>
            </a:p>
          </p:txBody>
        </p:sp>
        <p:sp>
          <p:nvSpPr>
            <p:cNvPr id="184" name="Google Shape;184;p32"/>
            <p:cNvSpPr txBox="1"/>
            <p:nvPr/>
          </p:nvSpPr>
          <p:spPr>
            <a:xfrm>
              <a:off x="0" y="4965731"/>
              <a:ext cx="11354400" cy="814200"/>
            </a:xfrm>
            <a:prstGeom prst="rect">
              <a:avLst/>
            </a:prstGeom>
            <a:noFill/>
            <a:ln>
              <a:noFill/>
            </a:ln>
          </p:spPr>
          <p:txBody>
            <a:bodyPr spcFirstLastPara="1" wrap="square" lIns="68675" tIns="68675" rIns="68675" bIns="68675" anchor="ctr" anchorCtr="0">
              <a:noAutofit/>
            </a:bodyPr>
            <a:lstStyle/>
            <a:p>
              <a:pPr marL="0" marR="0" lvl="0" indent="0" algn="ctr" rtl="0">
                <a:lnSpc>
                  <a:spcPct val="90000"/>
                </a:lnSpc>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Prepare the Composite Material</a:t>
              </a:r>
              <a:endParaRPr sz="1000">
                <a:solidFill>
                  <a:srgbClr val="FFFFFF"/>
                </a:solidFill>
                <a:latin typeface="Calibri"/>
                <a:ea typeface="Calibri"/>
                <a:cs typeface="Calibri"/>
                <a:sym typeface="Calibri"/>
              </a:endParaRPr>
            </a:p>
          </p:txBody>
        </p:sp>
        <p:sp>
          <p:nvSpPr>
            <p:cNvPr id="185" name="Google Shape;185;p32"/>
            <p:cNvSpPr/>
            <p:nvPr/>
          </p:nvSpPr>
          <p:spPr>
            <a:xfrm rot="10800000">
              <a:off x="33" y="3725150"/>
              <a:ext cx="11354400" cy="1252800"/>
            </a:xfrm>
            <a:prstGeom prst="upArrowCallout">
              <a:avLst>
                <a:gd name="adj1" fmla="val 25000"/>
                <a:gd name="adj2" fmla="val 25000"/>
                <a:gd name="adj3" fmla="val 25000"/>
                <a:gd name="adj4" fmla="val 64977"/>
              </a:avLst>
            </a:prstGeom>
            <a:solidFill>
              <a:srgbClr val="BF504D"/>
            </a:solidFill>
            <a:ln w="38100" cap="flat" cmpd="sng">
              <a:solidFill>
                <a:srgbClr val="FFFFFF"/>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22075" tIns="22075" rIns="22075" bIns="22075" anchor="ctr" anchorCtr="0">
              <a:noAutofit/>
            </a:bodyPr>
            <a:lstStyle/>
            <a:p>
              <a:pPr marL="0" lvl="0" indent="0" algn="l" rtl="0">
                <a:spcBef>
                  <a:spcPts val="0"/>
                </a:spcBef>
                <a:spcAft>
                  <a:spcPts val="0"/>
                </a:spcAft>
                <a:buNone/>
              </a:pPr>
              <a:endParaRPr/>
            </a:p>
          </p:txBody>
        </p:sp>
        <p:sp>
          <p:nvSpPr>
            <p:cNvPr id="186" name="Google Shape;186;p32"/>
            <p:cNvSpPr txBox="1"/>
            <p:nvPr/>
          </p:nvSpPr>
          <p:spPr>
            <a:xfrm>
              <a:off x="0" y="3725075"/>
              <a:ext cx="11354400" cy="814200"/>
            </a:xfrm>
            <a:prstGeom prst="rect">
              <a:avLst/>
            </a:prstGeom>
            <a:noFill/>
            <a:ln>
              <a:noFill/>
            </a:ln>
          </p:spPr>
          <p:txBody>
            <a:bodyPr spcFirstLastPara="1" wrap="square" lIns="68675" tIns="68675" rIns="68675" bIns="68675" anchor="ctr" anchorCtr="0">
              <a:noAutofit/>
            </a:bodyPr>
            <a:lstStyle/>
            <a:p>
              <a:pPr marL="0" marR="0" lvl="0" indent="0" algn="ctr" rtl="0">
                <a:lnSpc>
                  <a:spcPct val="90000"/>
                </a:lnSpc>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Determine the volume fraction</a:t>
              </a:r>
              <a:endParaRPr sz="1000">
                <a:solidFill>
                  <a:srgbClr val="FFFFFF"/>
                </a:solidFill>
                <a:latin typeface="Calibri"/>
                <a:ea typeface="Calibri"/>
                <a:cs typeface="Calibri"/>
                <a:sym typeface="Calibri"/>
              </a:endParaRPr>
            </a:p>
          </p:txBody>
        </p:sp>
        <p:sp>
          <p:nvSpPr>
            <p:cNvPr id="187" name="Google Shape;187;p32"/>
            <p:cNvSpPr/>
            <p:nvPr/>
          </p:nvSpPr>
          <p:spPr>
            <a:xfrm rot="10800000">
              <a:off x="33" y="2484493"/>
              <a:ext cx="11354400" cy="1252800"/>
            </a:xfrm>
            <a:prstGeom prst="upArrowCallout">
              <a:avLst>
                <a:gd name="adj1" fmla="val 25000"/>
                <a:gd name="adj2" fmla="val 25000"/>
                <a:gd name="adj3" fmla="val 25000"/>
                <a:gd name="adj4" fmla="val 64977"/>
              </a:avLst>
            </a:prstGeom>
            <a:solidFill>
              <a:srgbClr val="9BBB59"/>
            </a:solidFill>
            <a:ln w="38100" cap="flat" cmpd="sng">
              <a:solidFill>
                <a:srgbClr val="FFFFFF"/>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22075" tIns="22075" rIns="22075" bIns="22075" anchor="ctr" anchorCtr="0">
              <a:noAutofit/>
            </a:bodyPr>
            <a:lstStyle/>
            <a:p>
              <a:pPr marL="0" lvl="0" indent="0" algn="l" rtl="0">
                <a:spcBef>
                  <a:spcPts val="0"/>
                </a:spcBef>
                <a:spcAft>
                  <a:spcPts val="0"/>
                </a:spcAft>
                <a:buNone/>
              </a:pPr>
              <a:endParaRPr/>
            </a:p>
          </p:txBody>
        </p:sp>
        <p:sp>
          <p:nvSpPr>
            <p:cNvPr id="188" name="Google Shape;188;p32"/>
            <p:cNvSpPr txBox="1"/>
            <p:nvPr/>
          </p:nvSpPr>
          <p:spPr>
            <a:xfrm>
              <a:off x="0" y="2484418"/>
              <a:ext cx="11354400" cy="814200"/>
            </a:xfrm>
            <a:prstGeom prst="rect">
              <a:avLst/>
            </a:prstGeom>
            <a:noFill/>
            <a:ln>
              <a:noFill/>
            </a:ln>
          </p:spPr>
          <p:txBody>
            <a:bodyPr spcFirstLastPara="1" wrap="square" lIns="68675" tIns="68675" rIns="68675" bIns="68675" anchor="ctr" anchorCtr="0">
              <a:noAutofit/>
            </a:bodyPr>
            <a:lstStyle/>
            <a:p>
              <a:pPr marL="0" marR="0" lvl="0" indent="0" algn="ctr" rtl="0">
                <a:lnSpc>
                  <a:spcPct val="90000"/>
                </a:lnSpc>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Select the reinforcement material</a:t>
              </a:r>
              <a:endParaRPr sz="1000">
                <a:solidFill>
                  <a:srgbClr val="FFFFFF"/>
                </a:solidFill>
                <a:latin typeface="Calibri"/>
                <a:ea typeface="Calibri"/>
                <a:cs typeface="Calibri"/>
                <a:sym typeface="Calibri"/>
              </a:endParaRPr>
            </a:p>
          </p:txBody>
        </p:sp>
        <p:sp>
          <p:nvSpPr>
            <p:cNvPr id="189" name="Google Shape;189;p32"/>
            <p:cNvSpPr/>
            <p:nvPr/>
          </p:nvSpPr>
          <p:spPr>
            <a:xfrm rot="10800000">
              <a:off x="33" y="1243837"/>
              <a:ext cx="11354400" cy="1252800"/>
            </a:xfrm>
            <a:prstGeom prst="upArrowCallout">
              <a:avLst>
                <a:gd name="adj1" fmla="val 25000"/>
                <a:gd name="adj2" fmla="val 25000"/>
                <a:gd name="adj3" fmla="val 25000"/>
                <a:gd name="adj4" fmla="val 64977"/>
              </a:avLst>
            </a:prstGeom>
            <a:solidFill>
              <a:srgbClr val="8064A2"/>
            </a:solidFill>
            <a:ln w="38100" cap="flat" cmpd="sng">
              <a:solidFill>
                <a:srgbClr val="FFFFFF"/>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22075" tIns="22075" rIns="22075" bIns="22075" anchor="ctr" anchorCtr="0">
              <a:noAutofit/>
            </a:bodyPr>
            <a:lstStyle/>
            <a:p>
              <a:pPr marL="0" lvl="0" indent="0" algn="l" rtl="0">
                <a:spcBef>
                  <a:spcPts val="0"/>
                </a:spcBef>
                <a:spcAft>
                  <a:spcPts val="0"/>
                </a:spcAft>
                <a:buNone/>
              </a:pPr>
              <a:endParaRPr/>
            </a:p>
          </p:txBody>
        </p:sp>
        <p:sp>
          <p:nvSpPr>
            <p:cNvPr id="190" name="Google Shape;190;p32"/>
            <p:cNvSpPr txBox="1"/>
            <p:nvPr/>
          </p:nvSpPr>
          <p:spPr>
            <a:xfrm>
              <a:off x="0" y="1243762"/>
              <a:ext cx="11354400" cy="814200"/>
            </a:xfrm>
            <a:prstGeom prst="rect">
              <a:avLst/>
            </a:prstGeom>
            <a:noFill/>
            <a:ln>
              <a:noFill/>
            </a:ln>
          </p:spPr>
          <p:txBody>
            <a:bodyPr spcFirstLastPara="1" wrap="square" lIns="68675" tIns="68675" rIns="68675" bIns="68675" anchor="ctr" anchorCtr="0">
              <a:noAutofit/>
            </a:bodyPr>
            <a:lstStyle/>
            <a:p>
              <a:pPr marL="0" marR="0" lvl="0" indent="0" algn="ctr" rtl="0">
                <a:lnSpc>
                  <a:spcPct val="90000"/>
                </a:lnSpc>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Literature research on Reinforcement material</a:t>
              </a:r>
              <a:endParaRPr sz="300"/>
            </a:p>
          </p:txBody>
        </p:sp>
        <p:sp>
          <p:nvSpPr>
            <p:cNvPr id="191" name="Google Shape;191;p32"/>
            <p:cNvSpPr/>
            <p:nvPr/>
          </p:nvSpPr>
          <p:spPr>
            <a:xfrm rot="10800000">
              <a:off x="33" y="3181"/>
              <a:ext cx="11354400" cy="1252800"/>
            </a:xfrm>
            <a:prstGeom prst="upArrowCallout">
              <a:avLst>
                <a:gd name="adj1" fmla="val 25000"/>
                <a:gd name="adj2" fmla="val 25000"/>
                <a:gd name="adj3" fmla="val 25000"/>
                <a:gd name="adj4" fmla="val 64977"/>
              </a:avLst>
            </a:prstGeom>
            <a:solidFill>
              <a:srgbClr val="49ACC5"/>
            </a:solidFill>
            <a:ln w="38100" cap="flat" cmpd="sng">
              <a:solidFill>
                <a:srgbClr val="FFFFFF"/>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22075" tIns="22075" rIns="22075" bIns="22075" anchor="ctr" anchorCtr="0">
              <a:noAutofit/>
            </a:bodyPr>
            <a:lstStyle/>
            <a:p>
              <a:pPr marL="0" lvl="0" indent="0" algn="l" rtl="0">
                <a:spcBef>
                  <a:spcPts val="0"/>
                </a:spcBef>
                <a:spcAft>
                  <a:spcPts val="0"/>
                </a:spcAft>
                <a:buNone/>
              </a:pPr>
              <a:endParaRPr/>
            </a:p>
          </p:txBody>
        </p:sp>
        <p:sp>
          <p:nvSpPr>
            <p:cNvPr id="192" name="Google Shape;192;p32"/>
            <p:cNvSpPr txBox="1"/>
            <p:nvPr/>
          </p:nvSpPr>
          <p:spPr>
            <a:xfrm>
              <a:off x="0" y="3106"/>
              <a:ext cx="11354400" cy="814200"/>
            </a:xfrm>
            <a:prstGeom prst="rect">
              <a:avLst/>
            </a:prstGeom>
            <a:noFill/>
            <a:ln>
              <a:noFill/>
            </a:ln>
          </p:spPr>
          <p:txBody>
            <a:bodyPr spcFirstLastPara="1" wrap="square" lIns="68675" tIns="68675" rIns="68675" bIns="68675" anchor="ctr" anchorCtr="0">
              <a:noAutofit/>
            </a:bodyPr>
            <a:lstStyle/>
            <a:p>
              <a:pPr marL="0" marR="0" lvl="0" indent="0" algn="ctr" rtl="0">
                <a:lnSpc>
                  <a:spcPct val="90000"/>
                </a:lnSpc>
                <a:spcBef>
                  <a:spcPts val="0"/>
                </a:spcBef>
                <a:spcAft>
                  <a:spcPts val="0"/>
                </a:spcAft>
                <a:buClr>
                  <a:srgbClr val="FFFFFF"/>
                </a:buClr>
                <a:buSzPts val="1000"/>
                <a:buFont typeface="Calibri"/>
                <a:buNone/>
              </a:pPr>
              <a:r>
                <a:rPr lang="en" sz="1000">
                  <a:solidFill>
                    <a:srgbClr val="FFFFFF"/>
                  </a:solidFill>
                  <a:latin typeface="Calibri"/>
                  <a:ea typeface="Calibri"/>
                  <a:cs typeface="Calibri"/>
                  <a:sym typeface="Calibri"/>
                </a:rPr>
                <a:t>Select the matrix material</a:t>
              </a:r>
              <a:endParaRPr sz="1000">
                <a:solidFill>
                  <a:srgbClr val="FFFFFF"/>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3"/>
          <p:cNvSpPr txBox="1">
            <a:spLocks noGrp="1"/>
          </p:cNvSpPr>
          <p:nvPr>
            <p:ph type="ctrTitle"/>
          </p:nvPr>
        </p:nvSpPr>
        <p:spPr>
          <a:xfrm>
            <a:off x="1524000" y="114300"/>
            <a:ext cx="7391400" cy="800100"/>
          </a:xfrm>
          <a:prstGeom prst="rect">
            <a:avLst/>
          </a:prstGeom>
          <a:solidFill>
            <a:srgbClr val="00990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Process Flow for Selection of Materials </a:t>
            </a:r>
            <a:endParaRPr/>
          </a:p>
        </p:txBody>
      </p:sp>
      <p:sp>
        <p:nvSpPr>
          <p:cNvPr id="198" name="Google Shape;198;p33"/>
          <p:cNvSpPr txBox="1">
            <a:spLocks noGrp="1"/>
          </p:cNvSpPr>
          <p:nvPr>
            <p:ph type="subTitle" idx="1"/>
          </p:nvPr>
        </p:nvSpPr>
        <p:spPr>
          <a:xfrm>
            <a:off x="457200" y="1028700"/>
            <a:ext cx="8458200" cy="35433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lvl="0" indent="0" algn="l" rtl="0">
              <a:lnSpc>
                <a:spcPct val="200000"/>
              </a:lnSpc>
              <a:spcBef>
                <a:spcPts val="0"/>
              </a:spcBef>
              <a:spcAft>
                <a:spcPts val="0"/>
              </a:spcAft>
              <a:buClr>
                <a:srgbClr val="888888"/>
              </a:buClr>
              <a:buSzPts val="1600"/>
              <a:buNone/>
            </a:pPr>
            <a:endParaRPr sz="1600">
              <a:solidFill>
                <a:schemeClr val="dk1"/>
              </a:solidFill>
            </a:endParaRPr>
          </a:p>
          <a:p>
            <a:pPr marL="0" lvl="0" indent="0" algn="l" rtl="0">
              <a:spcBef>
                <a:spcPts val="360"/>
              </a:spcBef>
              <a:spcAft>
                <a:spcPts val="0"/>
              </a:spcAft>
              <a:buClr>
                <a:srgbClr val="888888"/>
              </a:buClr>
              <a:buSzPts val="1800"/>
              <a:buNone/>
            </a:pPr>
            <a:endParaRPr sz="1800"/>
          </a:p>
        </p:txBody>
      </p:sp>
      <p:grpSp>
        <p:nvGrpSpPr>
          <p:cNvPr id="199" name="Google Shape;199;p33"/>
          <p:cNvGrpSpPr/>
          <p:nvPr/>
        </p:nvGrpSpPr>
        <p:grpSpPr>
          <a:xfrm>
            <a:off x="1524001" y="1316249"/>
            <a:ext cx="6095999" cy="3044401"/>
            <a:chOff x="0" y="2399"/>
            <a:chExt cx="6095999" cy="4059201"/>
          </a:xfrm>
        </p:grpSpPr>
        <p:sp>
          <p:nvSpPr>
            <p:cNvPr id="200" name="Google Shape;200;p33"/>
            <p:cNvSpPr/>
            <p:nvPr/>
          </p:nvSpPr>
          <p:spPr>
            <a:xfrm rot="5400000">
              <a:off x="-114002" y="116401"/>
              <a:ext cx="760015" cy="532010"/>
            </a:xfrm>
            <a:prstGeom prst="chevron">
              <a:avLst>
                <a:gd name="adj" fmla="val 50000"/>
              </a:avLst>
            </a:prstGeom>
            <a:solidFill>
              <a:srgbClr val="49ACC5"/>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3"/>
            <p:cNvSpPr txBox="1"/>
            <p:nvPr/>
          </p:nvSpPr>
          <p:spPr>
            <a:xfrm>
              <a:off x="1" y="268403"/>
              <a:ext cx="532010" cy="228005"/>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 sz="1400" b="0" i="0" u="none" strike="noStrike" cap="none">
                  <a:solidFill>
                    <a:schemeClr val="lt1"/>
                  </a:solidFill>
                  <a:latin typeface="Calibri"/>
                  <a:ea typeface="Calibri"/>
                  <a:cs typeface="Calibri"/>
                  <a:sym typeface="Calibri"/>
                </a:rPr>
                <a:t>Step1</a:t>
              </a:r>
              <a:endParaRPr/>
            </a:p>
          </p:txBody>
        </p:sp>
        <p:sp>
          <p:nvSpPr>
            <p:cNvPr id="202" name="Google Shape;202;p33"/>
            <p:cNvSpPr/>
            <p:nvPr/>
          </p:nvSpPr>
          <p:spPr>
            <a:xfrm rot="5400000">
              <a:off x="3067000" y="-2532590"/>
              <a:ext cx="494010" cy="5563989"/>
            </a:xfrm>
            <a:prstGeom prst="round2SameRect">
              <a:avLst>
                <a:gd name="adj1" fmla="val 16667"/>
                <a:gd name="adj2" fmla="val 0"/>
              </a:avLst>
            </a:prstGeom>
            <a:solidFill>
              <a:schemeClr val="lt1">
                <a:alpha val="8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3"/>
            <p:cNvSpPr txBox="1"/>
            <p:nvPr/>
          </p:nvSpPr>
          <p:spPr>
            <a:xfrm>
              <a:off x="532011" y="26515"/>
              <a:ext cx="5539873" cy="445778"/>
            </a:xfrm>
            <a:prstGeom prst="rect">
              <a:avLst/>
            </a:prstGeom>
            <a:noFill/>
            <a:ln>
              <a:noFill/>
            </a:ln>
          </p:spPr>
          <p:txBody>
            <a:bodyPr spcFirstLastPara="1" wrap="square" lIns="128000" tIns="11425" rIns="11425" bIns="11425" anchor="ctr" anchorCtr="0">
              <a:noAutofit/>
            </a:bodyPr>
            <a:lstStyle/>
            <a:p>
              <a:pPr marL="171450" marR="0" lvl="1" indent="-171450" algn="l" rtl="0">
                <a:lnSpc>
                  <a:spcPct val="90000"/>
                </a:lnSpc>
                <a:spcBef>
                  <a:spcPts val="0"/>
                </a:spcBef>
                <a:spcAft>
                  <a:spcPts val="0"/>
                </a:spcAft>
                <a:buClr>
                  <a:schemeClr val="dk1"/>
                </a:buClr>
                <a:buSzPts val="1800"/>
                <a:buFont typeface="Calibri"/>
                <a:buChar char="•"/>
              </a:pPr>
              <a:r>
                <a:rPr lang="en" sz="1800" b="0" i="0" u="none" strike="noStrike" cap="none">
                  <a:solidFill>
                    <a:schemeClr val="dk1"/>
                  </a:solidFill>
                  <a:latin typeface="Calibri"/>
                  <a:ea typeface="Calibri"/>
                  <a:cs typeface="Calibri"/>
                  <a:sym typeface="Calibri"/>
                </a:rPr>
                <a:t>Define application and performance requirements</a:t>
              </a:r>
              <a:endParaRPr sz="1800" b="0" i="0" u="none" strike="noStrike" cap="none">
                <a:solidFill>
                  <a:schemeClr val="dk1"/>
                </a:solidFill>
                <a:latin typeface="Calibri"/>
                <a:ea typeface="Calibri"/>
                <a:cs typeface="Calibri"/>
                <a:sym typeface="Calibri"/>
              </a:endParaRPr>
            </a:p>
          </p:txBody>
        </p:sp>
        <p:sp>
          <p:nvSpPr>
            <p:cNvPr id="204" name="Google Shape;204;p33"/>
            <p:cNvSpPr/>
            <p:nvPr/>
          </p:nvSpPr>
          <p:spPr>
            <a:xfrm rot="5400000">
              <a:off x="-114002" y="776238"/>
              <a:ext cx="760015" cy="532010"/>
            </a:xfrm>
            <a:prstGeom prst="chevron">
              <a:avLst>
                <a:gd name="adj" fmla="val 50000"/>
              </a:avLst>
            </a:prstGeom>
            <a:solidFill>
              <a:srgbClr val="47CFA2"/>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3"/>
            <p:cNvSpPr txBox="1"/>
            <p:nvPr/>
          </p:nvSpPr>
          <p:spPr>
            <a:xfrm>
              <a:off x="1" y="928240"/>
              <a:ext cx="532010" cy="228005"/>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 sz="1400" b="0" i="0" u="none" strike="noStrike" cap="none">
                  <a:solidFill>
                    <a:schemeClr val="lt1"/>
                  </a:solidFill>
                  <a:latin typeface="Calibri"/>
                  <a:ea typeface="Calibri"/>
                  <a:cs typeface="Calibri"/>
                  <a:sym typeface="Calibri"/>
                </a:rPr>
                <a:t>Step 2</a:t>
              </a:r>
              <a:endParaRPr/>
            </a:p>
          </p:txBody>
        </p:sp>
        <p:sp>
          <p:nvSpPr>
            <p:cNvPr id="206" name="Google Shape;206;p33"/>
            <p:cNvSpPr/>
            <p:nvPr/>
          </p:nvSpPr>
          <p:spPr>
            <a:xfrm rot="5400000">
              <a:off x="3067000" y="-1872753"/>
              <a:ext cx="494010" cy="5563989"/>
            </a:xfrm>
            <a:prstGeom prst="round2SameRect">
              <a:avLst>
                <a:gd name="adj1" fmla="val 16667"/>
                <a:gd name="adj2" fmla="val 0"/>
              </a:avLst>
            </a:prstGeom>
            <a:solidFill>
              <a:schemeClr val="lt1">
                <a:alpha val="8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3"/>
            <p:cNvSpPr txBox="1"/>
            <p:nvPr/>
          </p:nvSpPr>
          <p:spPr>
            <a:xfrm>
              <a:off x="532011" y="686352"/>
              <a:ext cx="5539873" cy="445778"/>
            </a:xfrm>
            <a:prstGeom prst="rect">
              <a:avLst/>
            </a:prstGeom>
            <a:noFill/>
            <a:ln>
              <a:noFill/>
            </a:ln>
          </p:spPr>
          <p:txBody>
            <a:bodyPr spcFirstLastPara="1" wrap="square" lIns="128000" tIns="11425" rIns="11425" bIns="11425" anchor="ctr" anchorCtr="0">
              <a:noAutofit/>
            </a:bodyPr>
            <a:lstStyle/>
            <a:p>
              <a:pPr marL="171450" marR="0" lvl="1" indent="-171450" algn="l" rtl="0">
                <a:lnSpc>
                  <a:spcPct val="90000"/>
                </a:lnSpc>
                <a:spcBef>
                  <a:spcPts val="0"/>
                </a:spcBef>
                <a:spcAft>
                  <a:spcPts val="0"/>
                </a:spcAft>
                <a:buClr>
                  <a:schemeClr val="dk1"/>
                </a:buClr>
                <a:buSzPts val="1800"/>
                <a:buFont typeface="Calibri"/>
                <a:buChar char="•"/>
              </a:pPr>
              <a:r>
                <a:rPr lang="en" sz="1800" b="0" i="0" u="none" strike="noStrike" cap="none">
                  <a:solidFill>
                    <a:schemeClr val="dk1"/>
                  </a:solidFill>
                  <a:latin typeface="Calibri"/>
                  <a:ea typeface="Calibri"/>
                  <a:cs typeface="Calibri"/>
                  <a:sym typeface="Calibri"/>
                </a:rPr>
                <a:t>Identify potential materials that can meet requirements</a:t>
              </a:r>
              <a:endParaRPr sz="1800" b="0" i="0" u="none" strike="noStrike" cap="none">
                <a:solidFill>
                  <a:schemeClr val="dk1"/>
                </a:solidFill>
                <a:latin typeface="Calibri"/>
                <a:ea typeface="Calibri"/>
                <a:cs typeface="Calibri"/>
                <a:sym typeface="Calibri"/>
              </a:endParaRPr>
            </a:p>
          </p:txBody>
        </p:sp>
        <p:sp>
          <p:nvSpPr>
            <p:cNvPr id="208" name="Google Shape;208;p33"/>
            <p:cNvSpPr/>
            <p:nvPr/>
          </p:nvSpPr>
          <p:spPr>
            <a:xfrm rot="5400000">
              <a:off x="-114002" y="1436075"/>
              <a:ext cx="760015" cy="532010"/>
            </a:xfrm>
            <a:prstGeom prst="chevron">
              <a:avLst>
                <a:gd name="adj" fmla="val 50000"/>
              </a:avLst>
            </a:prstGeom>
            <a:solidFill>
              <a:srgbClr val="46D956"/>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3"/>
            <p:cNvSpPr txBox="1"/>
            <p:nvPr/>
          </p:nvSpPr>
          <p:spPr>
            <a:xfrm>
              <a:off x="1" y="1588077"/>
              <a:ext cx="532010" cy="228005"/>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 sz="1400" b="0" i="0" u="none" strike="noStrike" cap="none">
                  <a:solidFill>
                    <a:schemeClr val="lt1"/>
                  </a:solidFill>
                  <a:latin typeface="Calibri"/>
                  <a:ea typeface="Calibri"/>
                  <a:cs typeface="Calibri"/>
                  <a:sym typeface="Calibri"/>
                </a:rPr>
                <a:t>Step 3</a:t>
              </a:r>
              <a:endParaRPr/>
            </a:p>
          </p:txBody>
        </p:sp>
        <p:sp>
          <p:nvSpPr>
            <p:cNvPr id="210" name="Google Shape;210;p33"/>
            <p:cNvSpPr/>
            <p:nvPr/>
          </p:nvSpPr>
          <p:spPr>
            <a:xfrm rot="5400000">
              <a:off x="3067000" y="-1212915"/>
              <a:ext cx="494010" cy="5563989"/>
            </a:xfrm>
            <a:prstGeom prst="round2SameRect">
              <a:avLst>
                <a:gd name="adj1" fmla="val 16667"/>
                <a:gd name="adj2" fmla="val 0"/>
              </a:avLst>
            </a:prstGeom>
            <a:solidFill>
              <a:schemeClr val="lt1">
                <a:alpha val="8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3"/>
            <p:cNvSpPr txBox="1"/>
            <p:nvPr/>
          </p:nvSpPr>
          <p:spPr>
            <a:xfrm>
              <a:off x="532011" y="1346190"/>
              <a:ext cx="5539873" cy="445778"/>
            </a:xfrm>
            <a:prstGeom prst="rect">
              <a:avLst/>
            </a:prstGeom>
            <a:noFill/>
            <a:ln>
              <a:noFill/>
            </a:ln>
          </p:spPr>
          <p:txBody>
            <a:bodyPr spcFirstLastPara="1" wrap="square" lIns="128000" tIns="11425" rIns="11425" bIns="11425" anchor="ctr" anchorCtr="0">
              <a:noAutofit/>
            </a:bodyPr>
            <a:lstStyle/>
            <a:p>
              <a:pPr marL="171450" marR="0" lvl="1" indent="-171450" algn="l" rtl="0">
                <a:lnSpc>
                  <a:spcPct val="90000"/>
                </a:lnSpc>
                <a:spcBef>
                  <a:spcPts val="0"/>
                </a:spcBef>
                <a:spcAft>
                  <a:spcPts val="0"/>
                </a:spcAft>
                <a:buClr>
                  <a:schemeClr val="dk1"/>
                </a:buClr>
                <a:buSzPts val="1800"/>
                <a:buFont typeface="Calibri"/>
                <a:buChar char="•"/>
              </a:pPr>
              <a:r>
                <a:rPr lang="en" sz="1800" b="0" i="0" u="none" strike="noStrike" cap="none">
                  <a:solidFill>
                    <a:schemeClr val="dk1"/>
                  </a:solidFill>
                  <a:latin typeface="Calibri"/>
                  <a:ea typeface="Calibri"/>
                  <a:cs typeface="Calibri"/>
                  <a:sym typeface="Calibri"/>
                </a:rPr>
                <a:t>Evaluate properties of potential materials</a:t>
              </a:r>
              <a:endParaRPr sz="1800" b="0" i="0" u="none" strike="noStrike" cap="none">
                <a:solidFill>
                  <a:schemeClr val="dk1"/>
                </a:solidFill>
                <a:latin typeface="Calibri"/>
                <a:ea typeface="Calibri"/>
                <a:cs typeface="Calibri"/>
                <a:sym typeface="Calibri"/>
              </a:endParaRPr>
            </a:p>
          </p:txBody>
        </p:sp>
        <p:sp>
          <p:nvSpPr>
            <p:cNvPr id="212" name="Google Shape;212;p33"/>
            <p:cNvSpPr/>
            <p:nvPr/>
          </p:nvSpPr>
          <p:spPr>
            <a:xfrm rot="5400000">
              <a:off x="-114002" y="2095913"/>
              <a:ext cx="760015" cy="532010"/>
            </a:xfrm>
            <a:prstGeom prst="chevron">
              <a:avLst>
                <a:gd name="adj" fmla="val 50000"/>
              </a:avLst>
            </a:prstGeom>
            <a:solidFill>
              <a:srgbClr val="8BE445"/>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3"/>
            <p:cNvSpPr txBox="1"/>
            <p:nvPr/>
          </p:nvSpPr>
          <p:spPr>
            <a:xfrm>
              <a:off x="1" y="2247915"/>
              <a:ext cx="532010" cy="228005"/>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 sz="1400" b="0" i="0" u="none" strike="noStrike" cap="none">
                  <a:solidFill>
                    <a:schemeClr val="lt1"/>
                  </a:solidFill>
                  <a:latin typeface="Calibri"/>
                  <a:ea typeface="Calibri"/>
                  <a:cs typeface="Calibri"/>
                  <a:sym typeface="Calibri"/>
                </a:rPr>
                <a:t>Step 4 </a:t>
              </a:r>
              <a:endParaRPr/>
            </a:p>
          </p:txBody>
        </p:sp>
        <p:sp>
          <p:nvSpPr>
            <p:cNvPr id="214" name="Google Shape;214;p33"/>
            <p:cNvSpPr/>
            <p:nvPr/>
          </p:nvSpPr>
          <p:spPr>
            <a:xfrm rot="5400000">
              <a:off x="3067000" y="-553078"/>
              <a:ext cx="494010" cy="5563989"/>
            </a:xfrm>
            <a:prstGeom prst="round2SameRect">
              <a:avLst>
                <a:gd name="adj1" fmla="val 16667"/>
                <a:gd name="adj2" fmla="val 0"/>
              </a:avLst>
            </a:prstGeom>
            <a:solidFill>
              <a:schemeClr val="lt1">
                <a:alpha val="8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3"/>
            <p:cNvSpPr txBox="1"/>
            <p:nvPr/>
          </p:nvSpPr>
          <p:spPr>
            <a:xfrm>
              <a:off x="532011" y="2006027"/>
              <a:ext cx="5539873" cy="445778"/>
            </a:xfrm>
            <a:prstGeom prst="rect">
              <a:avLst/>
            </a:prstGeom>
            <a:noFill/>
            <a:ln>
              <a:noFill/>
            </a:ln>
          </p:spPr>
          <p:txBody>
            <a:bodyPr spcFirstLastPara="1" wrap="square" lIns="128000" tIns="11425" rIns="11425" bIns="11425" anchor="ctr" anchorCtr="0">
              <a:noAutofit/>
            </a:bodyPr>
            <a:lstStyle/>
            <a:p>
              <a:pPr marL="171450" marR="0" lvl="1" indent="-171450" algn="l" rtl="0">
                <a:lnSpc>
                  <a:spcPct val="90000"/>
                </a:lnSpc>
                <a:spcBef>
                  <a:spcPts val="0"/>
                </a:spcBef>
                <a:spcAft>
                  <a:spcPts val="0"/>
                </a:spcAft>
                <a:buClr>
                  <a:schemeClr val="dk1"/>
                </a:buClr>
                <a:buSzPts val="1800"/>
                <a:buFont typeface="Calibri"/>
                <a:buChar char="•"/>
              </a:pPr>
              <a:r>
                <a:rPr lang="en" sz="1800" b="0" i="0" u="none" strike="noStrike" cap="none">
                  <a:solidFill>
                    <a:schemeClr val="dk1"/>
                  </a:solidFill>
                  <a:latin typeface="Calibri"/>
                  <a:ea typeface="Calibri"/>
                  <a:cs typeface="Calibri"/>
                  <a:sym typeface="Calibri"/>
                </a:rPr>
                <a:t>Compare the properties of potential materials</a:t>
              </a:r>
              <a:endParaRPr/>
            </a:p>
          </p:txBody>
        </p:sp>
        <p:sp>
          <p:nvSpPr>
            <p:cNvPr id="216" name="Google Shape;216;p33"/>
            <p:cNvSpPr/>
            <p:nvPr/>
          </p:nvSpPr>
          <p:spPr>
            <a:xfrm rot="5400000">
              <a:off x="-114002" y="2755750"/>
              <a:ext cx="760015" cy="532010"/>
            </a:xfrm>
            <a:prstGeom prst="chevron">
              <a:avLst>
                <a:gd name="adj" fmla="val 50000"/>
              </a:avLst>
            </a:prstGeom>
            <a:solidFill>
              <a:srgbClr val="EDED45"/>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3"/>
            <p:cNvSpPr txBox="1"/>
            <p:nvPr/>
          </p:nvSpPr>
          <p:spPr>
            <a:xfrm>
              <a:off x="1" y="2907752"/>
              <a:ext cx="532010" cy="228005"/>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 sz="1400" b="0" i="0" u="none" strike="noStrike" cap="none">
                  <a:solidFill>
                    <a:schemeClr val="lt1"/>
                  </a:solidFill>
                  <a:latin typeface="Calibri"/>
                  <a:ea typeface="Calibri"/>
                  <a:cs typeface="Calibri"/>
                  <a:sym typeface="Calibri"/>
                </a:rPr>
                <a:t>Step 5</a:t>
              </a:r>
              <a:endParaRPr/>
            </a:p>
          </p:txBody>
        </p:sp>
        <p:sp>
          <p:nvSpPr>
            <p:cNvPr id="218" name="Google Shape;218;p33"/>
            <p:cNvSpPr/>
            <p:nvPr/>
          </p:nvSpPr>
          <p:spPr>
            <a:xfrm rot="5400000">
              <a:off x="3067000" y="106758"/>
              <a:ext cx="494010" cy="5563989"/>
            </a:xfrm>
            <a:prstGeom prst="round2SameRect">
              <a:avLst>
                <a:gd name="adj1" fmla="val 16667"/>
                <a:gd name="adj2" fmla="val 0"/>
              </a:avLst>
            </a:prstGeom>
            <a:solidFill>
              <a:schemeClr val="lt1">
                <a:alpha val="8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3"/>
            <p:cNvSpPr txBox="1"/>
            <p:nvPr/>
          </p:nvSpPr>
          <p:spPr>
            <a:xfrm>
              <a:off x="532011" y="2665863"/>
              <a:ext cx="5539873" cy="445778"/>
            </a:xfrm>
            <a:prstGeom prst="rect">
              <a:avLst/>
            </a:prstGeom>
            <a:noFill/>
            <a:ln>
              <a:noFill/>
            </a:ln>
          </p:spPr>
          <p:txBody>
            <a:bodyPr spcFirstLastPara="1" wrap="square" lIns="128000" tIns="11425" rIns="11425" bIns="11425" anchor="ctr" anchorCtr="0">
              <a:noAutofit/>
            </a:bodyPr>
            <a:lstStyle/>
            <a:p>
              <a:pPr marL="171450" marR="0" lvl="1" indent="-171450" algn="l" rtl="0">
                <a:lnSpc>
                  <a:spcPct val="90000"/>
                </a:lnSpc>
                <a:spcBef>
                  <a:spcPts val="0"/>
                </a:spcBef>
                <a:spcAft>
                  <a:spcPts val="0"/>
                </a:spcAft>
                <a:buClr>
                  <a:schemeClr val="dk1"/>
                </a:buClr>
                <a:buSzPts val="1800"/>
                <a:buFont typeface="Calibri"/>
                <a:buChar char="•"/>
              </a:pPr>
              <a:r>
                <a:rPr lang="en" sz="1800" b="0" i="0" u="none" strike="noStrike" cap="none">
                  <a:solidFill>
                    <a:schemeClr val="dk1"/>
                  </a:solidFill>
                  <a:latin typeface="Calibri"/>
                  <a:ea typeface="Calibri"/>
                  <a:cs typeface="Calibri"/>
                  <a:sym typeface="Calibri"/>
                </a:rPr>
                <a:t>Select Which can meet the requirements</a:t>
              </a:r>
              <a:endParaRPr sz="1800" b="0" i="0" u="none" strike="noStrike" cap="none">
                <a:solidFill>
                  <a:schemeClr val="dk1"/>
                </a:solidFill>
                <a:latin typeface="Calibri"/>
                <a:ea typeface="Calibri"/>
                <a:cs typeface="Calibri"/>
                <a:sym typeface="Calibri"/>
              </a:endParaRPr>
            </a:p>
          </p:txBody>
        </p:sp>
        <p:sp>
          <p:nvSpPr>
            <p:cNvPr id="220" name="Google Shape;220;p33"/>
            <p:cNvSpPr/>
            <p:nvPr/>
          </p:nvSpPr>
          <p:spPr>
            <a:xfrm rot="5400000">
              <a:off x="-114002" y="3415587"/>
              <a:ext cx="760015" cy="532010"/>
            </a:xfrm>
            <a:prstGeom prst="chevron">
              <a:avLst>
                <a:gd name="adj" fmla="val 50000"/>
              </a:avLst>
            </a:prstGeom>
            <a:solidFill>
              <a:srgbClr val="F69444"/>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3"/>
            <p:cNvSpPr txBox="1"/>
            <p:nvPr/>
          </p:nvSpPr>
          <p:spPr>
            <a:xfrm>
              <a:off x="1" y="3567589"/>
              <a:ext cx="532010" cy="228005"/>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lt1"/>
                </a:buClr>
                <a:buSzPts val="1400"/>
                <a:buFont typeface="Calibri"/>
                <a:buNone/>
              </a:pPr>
              <a:r>
                <a:rPr lang="en" sz="1400" b="0" i="0" u="none" strike="noStrike" cap="none">
                  <a:solidFill>
                    <a:schemeClr val="lt1"/>
                  </a:solidFill>
                  <a:latin typeface="Calibri"/>
                  <a:ea typeface="Calibri"/>
                  <a:cs typeface="Calibri"/>
                  <a:sym typeface="Calibri"/>
                </a:rPr>
                <a:t>Step 6</a:t>
              </a:r>
              <a:endParaRPr/>
            </a:p>
          </p:txBody>
        </p:sp>
        <p:sp>
          <p:nvSpPr>
            <p:cNvPr id="222" name="Google Shape;222;p33"/>
            <p:cNvSpPr/>
            <p:nvPr/>
          </p:nvSpPr>
          <p:spPr>
            <a:xfrm rot="5400000">
              <a:off x="3067000" y="766595"/>
              <a:ext cx="494010" cy="5563989"/>
            </a:xfrm>
            <a:prstGeom prst="round2SameRect">
              <a:avLst>
                <a:gd name="adj1" fmla="val 16667"/>
                <a:gd name="adj2" fmla="val 0"/>
              </a:avLst>
            </a:prstGeom>
            <a:solidFill>
              <a:schemeClr val="lt1">
                <a:alpha val="8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3"/>
            <p:cNvSpPr txBox="1"/>
            <p:nvPr/>
          </p:nvSpPr>
          <p:spPr>
            <a:xfrm>
              <a:off x="532011" y="3325700"/>
              <a:ext cx="5539873" cy="445778"/>
            </a:xfrm>
            <a:prstGeom prst="rect">
              <a:avLst/>
            </a:prstGeom>
            <a:noFill/>
            <a:ln>
              <a:noFill/>
            </a:ln>
          </p:spPr>
          <p:txBody>
            <a:bodyPr spcFirstLastPara="1" wrap="square" lIns="128000" tIns="11425" rIns="11425" bIns="11425" anchor="ctr" anchorCtr="0">
              <a:noAutofit/>
            </a:bodyPr>
            <a:lstStyle/>
            <a:p>
              <a:pPr marL="171450" marR="0" lvl="1" indent="-171450" algn="l" rtl="0">
                <a:lnSpc>
                  <a:spcPct val="90000"/>
                </a:lnSpc>
                <a:spcBef>
                  <a:spcPts val="0"/>
                </a:spcBef>
                <a:spcAft>
                  <a:spcPts val="0"/>
                </a:spcAft>
                <a:buClr>
                  <a:schemeClr val="dk1"/>
                </a:buClr>
                <a:buSzPts val="1800"/>
                <a:buFont typeface="Calibri"/>
                <a:buChar char="•"/>
              </a:pPr>
              <a:r>
                <a:rPr lang="en" sz="1800" b="0" i="0" u="none" strike="noStrike" cap="none">
                  <a:solidFill>
                    <a:schemeClr val="dk1"/>
                  </a:solidFill>
                  <a:latin typeface="Calibri"/>
                  <a:ea typeface="Calibri"/>
                  <a:cs typeface="Calibri"/>
                  <a:sym typeface="Calibri"/>
                </a:rPr>
                <a:t>Start Preparation of Composite Material</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5"/>
          <p:cNvSpPr txBox="1">
            <a:spLocks noGrp="1"/>
          </p:cNvSpPr>
          <p:nvPr>
            <p:ph type="ctrTitle"/>
          </p:nvPr>
        </p:nvSpPr>
        <p:spPr>
          <a:xfrm>
            <a:off x="1524000" y="114300"/>
            <a:ext cx="7391400" cy="800100"/>
          </a:xfrm>
          <a:prstGeom prst="rect">
            <a:avLst/>
          </a:prstGeom>
          <a:solidFill>
            <a:srgbClr val="00990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400" b="1" dirty="0">
                <a:solidFill>
                  <a:srgbClr val="FFFF00"/>
                </a:solidFill>
                <a:latin typeface="Bookman Old Style"/>
                <a:sym typeface="Bookman Old Style"/>
              </a:rPr>
              <a:t>Properties of Available Reinforcements</a:t>
            </a:r>
            <a:endParaRPr sz="2400" dirty="0"/>
          </a:p>
        </p:txBody>
      </p:sp>
      <p:graphicFrame>
        <p:nvGraphicFramePr>
          <p:cNvPr id="240" name="Google Shape;240;p35"/>
          <p:cNvGraphicFramePr/>
          <p:nvPr>
            <p:extLst>
              <p:ext uri="{D42A27DB-BD31-4B8C-83A1-F6EECF244321}">
                <p14:modId xmlns:p14="http://schemas.microsoft.com/office/powerpoint/2010/main" val="2342994035"/>
              </p:ext>
            </p:extLst>
          </p:nvPr>
        </p:nvGraphicFramePr>
        <p:xfrm>
          <a:off x="1635919" y="1035844"/>
          <a:ext cx="6129336" cy="3579215"/>
        </p:xfrm>
        <a:graphic>
          <a:graphicData uri="http://schemas.openxmlformats.org/drawingml/2006/table">
            <a:tbl>
              <a:tblPr bandRow="1">
                <a:tableStyleId>{3C2FFA5D-87B4-456A-9821-1D502468CF0F}</a:tableStyleId>
              </a:tblPr>
              <a:tblGrid>
                <a:gridCol w="867290">
                  <a:extLst>
                    <a:ext uri="{9D8B030D-6E8A-4147-A177-3AD203B41FA5}">
                      <a16:colId xmlns:a16="http://schemas.microsoft.com/office/drawing/2014/main" val="20000"/>
                    </a:ext>
                  </a:extLst>
                </a:gridCol>
                <a:gridCol w="867962">
                  <a:extLst>
                    <a:ext uri="{9D8B030D-6E8A-4147-A177-3AD203B41FA5}">
                      <a16:colId xmlns:a16="http://schemas.microsoft.com/office/drawing/2014/main" val="20001"/>
                    </a:ext>
                  </a:extLst>
                </a:gridCol>
                <a:gridCol w="877451">
                  <a:extLst>
                    <a:ext uri="{9D8B030D-6E8A-4147-A177-3AD203B41FA5}">
                      <a16:colId xmlns:a16="http://schemas.microsoft.com/office/drawing/2014/main" val="20002"/>
                    </a:ext>
                  </a:extLst>
                </a:gridCol>
                <a:gridCol w="1296526">
                  <a:extLst>
                    <a:ext uri="{9D8B030D-6E8A-4147-A177-3AD203B41FA5}">
                      <a16:colId xmlns:a16="http://schemas.microsoft.com/office/drawing/2014/main" val="20003"/>
                    </a:ext>
                  </a:extLst>
                </a:gridCol>
                <a:gridCol w="1166332">
                  <a:extLst>
                    <a:ext uri="{9D8B030D-6E8A-4147-A177-3AD203B41FA5}">
                      <a16:colId xmlns:a16="http://schemas.microsoft.com/office/drawing/2014/main" val="20004"/>
                    </a:ext>
                  </a:extLst>
                </a:gridCol>
                <a:gridCol w="1053775">
                  <a:extLst>
                    <a:ext uri="{9D8B030D-6E8A-4147-A177-3AD203B41FA5}">
                      <a16:colId xmlns:a16="http://schemas.microsoft.com/office/drawing/2014/main" val="20005"/>
                    </a:ext>
                  </a:extLst>
                </a:gridCol>
              </a:tblGrid>
              <a:tr h="953069">
                <a:tc>
                  <a:txBody>
                    <a:bodyPr/>
                    <a:lstStyle/>
                    <a:p>
                      <a:pPr marL="0" marR="107950" lvl="0" indent="0" algn="ctr" rtl="0">
                        <a:lnSpc>
                          <a:spcPct val="115000"/>
                        </a:lnSpc>
                        <a:spcBef>
                          <a:spcPts val="0"/>
                        </a:spcBef>
                        <a:spcAft>
                          <a:spcPts val="0"/>
                        </a:spcAft>
                        <a:buNone/>
                      </a:pPr>
                      <a:endParaRPr sz="1200" b="1" dirty="0">
                        <a:sym typeface="Times New Roman"/>
                      </a:endParaRPr>
                    </a:p>
                    <a:p>
                      <a:pPr marL="0" marR="107950" lvl="0" indent="0" algn="ctr" rtl="0">
                        <a:lnSpc>
                          <a:spcPct val="115000"/>
                        </a:lnSpc>
                        <a:spcBef>
                          <a:spcPts val="0"/>
                        </a:spcBef>
                        <a:spcAft>
                          <a:spcPts val="0"/>
                        </a:spcAft>
                        <a:buNone/>
                      </a:pPr>
                      <a:r>
                        <a:rPr lang="en" sz="1200" b="1" dirty="0">
                          <a:sym typeface="Times New Roman"/>
                        </a:rPr>
                        <a:t>Material</a:t>
                      </a:r>
                      <a:endParaRPr sz="1200" b="1" dirty="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115000"/>
                        </a:lnSpc>
                        <a:spcBef>
                          <a:spcPts val="0"/>
                        </a:spcBef>
                        <a:spcAft>
                          <a:spcPts val="0"/>
                        </a:spcAft>
                        <a:buNone/>
                      </a:pPr>
                      <a:endParaRPr sz="1200" b="1" dirty="0">
                        <a:sym typeface="Times New Roman"/>
                      </a:endParaRPr>
                    </a:p>
                    <a:p>
                      <a:pPr marL="0" marR="107950" lvl="0" indent="0" algn="ctr" rtl="0">
                        <a:lnSpc>
                          <a:spcPct val="115000"/>
                        </a:lnSpc>
                        <a:spcBef>
                          <a:spcPts val="0"/>
                        </a:spcBef>
                        <a:spcAft>
                          <a:spcPts val="0"/>
                        </a:spcAft>
                        <a:buNone/>
                      </a:pPr>
                      <a:r>
                        <a:rPr lang="en" sz="1200" b="1" dirty="0">
                          <a:sym typeface="Times New Roman"/>
                        </a:rPr>
                        <a:t>Strength</a:t>
                      </a:r>
                      <a:endParaRPr sz="1200" b="1" dirty="0">
                        <a:sym typeface="Times New Roman"/>
                      </a:endParaRPr>
                    </a:p>
                    <a:p>
                      <a:pPr marL="0" marR="107950" lvl="0" indent="0" algn="ctr" rtl="0">
                        <a:lnSpc>
                          <a:spcPct val="115000"/>
                        </a:lnSpc>
                        <a:spcBef>
                          <a:spcPts val="0"/>
                        </a:spcBef>
                        <a:spcAft>
                          <a:spcPts val="0"/>
                        </a:spcAft>
                        <a:buNone/>
                      </a:pPr>
                      <a:r>
                        <a:rPr lang="en" sz="1200" b="1" dirty="0">
                          <a:sym typeface="Times New Roman"/>
                        </a:rPr>
                        <a:t>(MPa)</a:t>
                      </a:r>
                      <a:endParaRPr sz="1200" dirty="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115000"/>
                        </a:lnSpc>
                        <a:spcBef>
                          <a:spcPts val="0"/>
                        </a:spcBef>
                        <a:spcAft>
                          <a:spcPts val="0"/>
                        </a:spcAft>
                        <a:buNone/>
                      </a:pPr>
                      <a:r>
                        <a:rPr lang="en" sz="1200" b="1" dirty="0">
                          <a:sym typeface="Times New Roman"/>
                        </a:rPr>
                        <a:t>Elastic Modulus</a:t>
                      </a:r>
                      <a:endParaRPr sz="1200" b="1" dirty="0">
                        <a:sym typeface="Times New Roman"/>
                      </a:endParaRPr>
                    </a:p>
                    <a:p>
                      <a:pPr marL="0" marR="107950" lvl="0" indent="0" algn="ctr" rtl="0">
                        <a:lnSpc>
                          <a:spcPct val="115000"/>
                        </a:lnSpc>
                        <a:spcBef>
                          <a:spcPts val="0"/>
                        </a:spcBef>
                        <a:spcAft>
                          <a:spcPts val="0"/>
                        </a:spcAft>
                        <a:buNone/>
                      </a:pPr>
                      <a:r>
                        <a:rPr lang="en" sz="1200" b="1" dirty="0">
                          <a:sym typeface="Times New Roman"/>
                        </a:rPr>
                        <a:t>(GPa)</a:t>
                      </a:r>
                      <a:endParaRPr sz="1200" dirty="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115000"/>
                        </a:lnSpc>
                        <a:spcBef>
                          <a:spcPts val="0"/>
                        </a:spcBef>
                        <a:spcAft>
                          <a:spcPts val="0"/>
                        </a:spcAft>
                        <a:buNone/>
                      </a:pPr>
                      <a:r>
                        <a:rPr lang="en" sz="1200" b="1" dirty="0">
                          <a:sym typeface="Times New Roman"/>
                        </a:rPr>
                        <a:t>Fracture</a:t>
                      </a:r>
                      <a:endParaRPr sz="1200" b="1" dirty="0">
                        <a:sym typeface="Times New Roman"/>
                      </a:endParaRPr>
                    </a:p>
                    <a:p>
                      <a:pPr marL="0" marR="107950" lvl="0" indent="0" algn="ctr" rtl="0">
                        <a:lnSpc>
                          <a:spcPct val="115000"/>
                        </a:lnSpc>
                        <a:spcBef>
                          <a:spcPts val="0"/>
                        </a:spcBef>
                        <a:spcAft>
                          <a:spcPts val="0"/>
                        </a:spcAft>
                        <a:buNone/>
                      </a:pPr>
                      <a:r>
                        <a:rPr lang="en" sz="1200" b="1" dirty="0">
                          <a:sym typeface="Times New Roman"/>
                        </a:rPr>
                        <a:t>Toughness</a:t>
                      </a:r>
                      <a:endParaRPr sz="1200" b="1" dirty="0">
                        <a:sym typeface="Times New Roman"/>
                      </a:endParaRPr>
                    </a:p>
                    <a:p>
                      <a:pPr marL="0" marR="107950" lvl="0" indent="0" algn="ctr" rtl="0">
                        <a:lnSpc>
                          <a:spcPct val="115000"/>
                        </a:lnSpc>
                        <a:spcBef>
                          <a:spcPts val="0"/>
                        </a:spcBef>
                        <a:spcAft>
                          <a:spcPts val="0"/>
                        </a:spcAft>
                        <a:buNone/>
                      </a:pPr>
                      <a:r>
                        <a:rPr lang="en" sz="1200" b="1" dirty="0">
                          <a:sym typeface="Times New Roman"/>
                        </a:rPr>
                        <a:t>(MPa/m^(1/2))</a:t>
                      </a:r>
                      <a:endParaRPr sz="1200" dirty="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115000"/>
                        </a:lnSpc>
                        <a:spcBef>
                          <a:spcPts val="0"/>
                        </a:spcBef>
                        <a:spcAft>
                          <a:spcPts val="0"/>
                        </a:spcAft>
                        <a:buNone/>
                      </a:pPr>
                      <a:r>
                        <a:rPr lang="en" sz="1200" b="1" dirty="0">
                          <a:sym typeface="Times New Roman"/>
                        </a:rPr>
                        <a:t>Thermal</a:t>
                      </a:r>
                      <a:endParaRPr sz="1200" b="1" dirty="0">
                        <a:sym typeface="Times New Roman"/>
                      </a:endParaRPr>
                    </a:p>
                    <a:p>
                      <a:pPr marL="0" marR="107950" lvl="0" indent="0" algn="ctr" rtl="0">
                        <a:lnSpc>
                          <a:spcPct val="115000"/>
                        </a:lnSpc>
                        <a:spcBef>
                          <a:spcPts val="0"/>
                        </a:spcBef>
                        <a:spcAft>
                          <a:spcPts val="0"/>
                        </a:spcAft>
                        <a:buNone/>
                      </a:pPr>
                      <a:r>
                        <a:rPr lang="en" sz="1200" b="1" dirty="0">
                          <a:sym typeface="Times New Roman"/>
                        </a:rPr>
                        <a:t>Conductivity</a:t>
                      </a:r>
                      <a:endParaRPr sz="1200" b="1" dirty="0">
                        <a:sym typeface="Times New Roman"/>
                      </a:endParaRPr>
                    </a:p>
                    <a:p>
                      <a:pPr marL="0" marR="107950" lvl="0" indent="0" algn="ctr" rtl="0">
                        <a:lnSpc>
                          <a:spcPct val="115000"/>
                        </a:lnSpc>
                        <a:spcBef>
                          <a:spcPts val="0"/>
                        </a:spcBef>
                        <a:spcAft>
                          <a:spcPts val="0"/>
                        </a:spcAft>
                        <a:buNone/>
                      </a:pPr>
                      <a:r>
                        <a:rPr lang="en" sz="1200" b="1" dirty="0">
                          <a:sym typeface="Times New Roman"/>
                        </a:rPr>
                        <a:t>(W/mK)</a:t>
                      </a:r>
                      <a:endParaRPr sz="1200" dirty="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115000"/>
                        </a:lnSpc>
                        <a:spcBef>
                          <a:spcPts val="0"/>
                        </a:spcBef>
                        <a:spcAft>
                          <a:spcPts val="0"/>
                        </a:spcAft>
                        <a:buNone/>
                      </a:pPr>
                      <a:r>
                        <a:rPr lang="en" sz="1200" b="1" dirty="0">
                          <a:sym typeface="Times New Roman"/>
                        </a:rPr>
                        <a:t>Thermal</a:t>
                      </a:r>
                      <a:endParaRPr sz="1200" b="1" dirty="0">
                        <a:sym typeface="Times New Roman"/>
                      </a:endParaRPr>
                    </a:p>
                    <a:p>
                      <a:pPr marL="0" marR="107950" lvl="0" indent="0" algn="ctr" rtl="0">
                        <a:lnSpc>
                          <a:spcPct val="115000"/>
                        </a:lnSpc>
                        <a:spcBef>
                          <a:spcPts val="0"/>
                        </a:spcBef>
                        <a:spcAft>
                          <a:spcPts val="0"/>
                        </a:spcAft>
                        <a:buNone/>
                      </a:pPr>
                      <a:r>
                        <a:rPr lang="en" sz="1200" b="1" dirty="0">
                          <a:sym typeface="Times New Roman"/>
                        </a:rPr>
                        <a:t>Expansion</a:t>
                      </a:r>
                      <a:endParaRPr sz="1200" b="1" dirty="0">
                        <a:sym typeface="Times New Roman"/>
                      </a:endParaRPr>
                    </a:p>
                    <a:p>
                      <a:pPr marL="0" marR="107950" lvl="0" indent="0" algn="ctr" rtl="0">
                        <a:lnSpc>
                          <a:spcPct val="115000"/>
                        </a:lnSpc>
                        <a:spcBef>
                          <a:spcPts val="0"/>
                        </a:spcBef>
                        <a:spcAft>
                          <a:spcPts val="0"/>
                        </a:spcAft>
                        <a:buNone/>
                      </a:pPr>
                      <a:r>
                        <a:rPr lang="en" sz="1200" b="1" dirty="0">
                          <a:sym typeface="Times New Roman"/>
                        </a:rPr>
                        <a:t>Coefficient</a:t>
                      </a:r>
                      <a:endParaRPr sz="1200" b="1" dirty="0">
                        <a:sym typeface="Times New Roman"/>
                      </a:endParaRPr>
                    </a:p>
                    <a:p>
                      <a:pPr marL="0" marR="107950" lvl="0" indent="0" algn="ctr" rtl="0">
                        <a:lnSpc>
                          <a:spcPct val="115000"/>
                        </a:lnSpc>
                        <a:spcBef>
                          <a:spcPts val="0"/>
                        </a:spcBef>
                        <a:spcAft>
                          <a:spcPts val="0"/>
                        </a:spcAft>
                        <a:buNone/>
                      </a:pPr>
                      <a:r>
                        <a:rPr lang="en" sz="1200" b="1" dirty="0">
                          <a:sym typeface="Times New Roman"/>
                        </a:rPr>
                        <a:t>(10^-6/K)</a:t>
                      </a:r>
                      <a:endParaRPr sz="1200"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0"/>
                  </a:ext>
                </a:extLst>
              </a:tr>
              <a:tr h="437691">
                <a:tc>
                  <a:txBody>
                    <a:bodyPr/>
                    <a:lstStyle/>
                    <a:p>
                      <a:pPr marL="0" marR="107950" lvl="0" indent="0" algn="ctr" rtl="0">
                        <a:lnSpc>
                          <a:spcPct val="200000"/>
                        </a:lnSpc>
                        <a:spcBef>
                          <a:spcPts val="0"/>
                        </a:spcBef>
                        <a:spcAft>
                          <a:spcPts val="0"/>
                        </a:spcAft>
                        <a:buNone/>
                      </a:pPr>
                      <a:r>
                        <a:rPr lang="en" sz="1200">
                          <a:sym typeface="Times New Roman"/>
                        </a:rPr>
                        <a:t>Alumina</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350-500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350-450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3-4</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20-35</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dirty="0">
                          <a:sym typeface="Times New Roman"/>
                        </a:rPr>
                        <a:t>7-8</a:t>
                      </a:r>
                      <a:endParaRPr sz="1200"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1"/>
                  </a:ext>
                </a:extLst>
              </a:tr>
              <a:tr h="437691">
                <a:tc>
                  <a:txBody>
                    <a:bodyPr/>
                    <a:lstStyle/>
                    <a:p>
                      <a:pPr marL="0" marR="107950" lvl="0" indent="0" algn="ctr" rtl="0">
                        <a:lnSpc>
                          <a:spcPct val="200000"/>
                        </a:lnSpc>
                        <a:spcBef>
                          <a:spcPts val="0"/>
                        </a:spcBef>
                        <a:spcAft>
                          <a:spcPts val="0"/>
                        </a:spcAft>
                        <a:buNone/>
                      </a:pPr>
                      <a:r>
                        <a:rPr lang="en" sz="1200">
                          <a:sym typeface="Times New Roman"/>
                        </a:rPr>
                        <a:t>Zirconia</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800-900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200-210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4-5</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2-4</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10-11</a:t>
                      </a:r>
                      <a:endParaRPr sz="120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2"/>
                  </a:ext>
                </a:extLst>
              </a:tr>
              <a:tr h="437691">
                <a:tc>
                  <a:txBody>
                    <a:bodyPr/>
                    <a:lstStyle/>
                    <a:p>
                      <a:pPr marL="0" marR="107950" lvl="0" indent="0" algn="ctr" rtl="0">
                        <a:lnSpc>
                          <a:spcPct val="200000"/>
                        </a:lnSpc>
                        <a:spcBef>
                          <a:spcPts val="0"/>
                        </a:spcBef>
                        <a:spcAft>
                          <a:spcPts val="0"/>
                        </a:spcAft>
                        <a:buNone/>
                      </a:pPr>
                      <a:r>
                        <a:rPr lang="en" sz="1200">
                          <a:sym typeface="Times New Roman"/>
                        </a:rPr>
                        <a:t>CNTs</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20-100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1.0-1.2</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2-3</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3000-6000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1-2</a:t>
                      </a:r>
                      <a:endParaRPr sz="120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3"/>
                  </a:ext>
                </a:extLst>
              </a:tr>
              <a:tr h="437691">
                <a:tc>
                  <a:txBody>
                    <a:bodyPr/>
                    <a:lstStyle/>
                    <a:p>
                      <a:pPr marL="0" marR="107950" lvl="0" indent="0" algn="ctr" rtl="0">
                        <a:lnSpc>
                          <a:spcPct val="200000"/>
                        </a:lnSpc>
                        <a:spcBef>
                          <a:spcPts val="0"/>
                        </a:spcBef>
                        <a:spcAft>
                          <a:spcPts val="0"/>
                        </a:spcAft>
                        <a:buNone/>
                      </a:pPr>
                      <a:r>
                        <a:rPr lang="en" sz="1200">
                          <a:sym typeface="Times New Roman"/>
                        </a:rPr>
                        <a:t>SiC</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400-600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400-500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3-4</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120-150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3-4</a:t>
                      </a:r>
                      <a:endParaRPr sz="120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4"/>
                  </a:ext>
                </a:extLst>
              </a:tr>
              <a:tr h="437691">
                <a:tc>
                  <a:txBody>
                    <a:bodyPr/>
                    <a:lstStyle/>
                    <a:p>
                      <a:pPr marL="0" marR="107950" lvl="0" indent="0" algn="ctr" rtl="0">
                        <a:lnSpc>
                          <a:spcPct val="200000"/>
                        </a:lnSpc>
                        <a:spcBef>
                          <a:spcPts val="0"/>
                        </a:spcBef>
                        <a:spcAft>
                          <a:spcPts val="0"/>
                        </a:spcAft>
                        <a:buNone/>
                      </a:pPr>
                      <a:r>
                        <a:rPr lang="en" sz="1200">
                          <a:sym typeface="Times New Roman"/>
                        </a:rPr>
                        <a:t>TiO2</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150-250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200-240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2-3</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5-10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8-9</a:t>
                      </a:r>
                      <a:endParaRPr sz="120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5"/>
                  </a:ext>
                </a:extLst>
              </a:tr>
              <a:tr h="437691">
                <a:tc>
                  <a:txBody>
                    <a:bodyPr/>
                    <a:lstStyle/>
                    <a:p>
                      <a:pPr marL="0" marR="107950" lvl="0" indent="0" algn="ctr" rtl="0">
                        <a:lnSpc>
                          <a:spcPct val="200000"/>
                        </a:lnSpc>
                        <a:spcBef>
                          <a:spcPts val="0"/>
                        </a:spcBef>
                        <a:spcAft>
                          <a:spcPts val="0"/>
                        </a:spcAft>
                        <a:buNone/>
                      </a:pPr>
                      <a:r>
                        <a:rPr lang="en" sz="1200">
                          <a:sym typeface="Times New Roman"/>
                        </a:rPr>
                        <a:t>CuO</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70-100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130-180</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0.7-1.1</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a:sym typeface="Times New Roman"/>
                        </a:rPr>
                        <a:t>10-15</a:t>
                      </a:r>
                      <a:endParaRPr sz="1200">
                        <a:latin typeface="Times New Roman"/>
                        <a:ea typeface="Times New Roman"/>
                        <a:cs typeface="Times New Roman"/>
                        <a:sym typeface="Times New Roman"/>
                      </a:endParaRPr>
                    </a:p>
                  </a:txBody>
                  <a:tcPr marL="63500" marR="63500" marT="63500" marB="63500"/>
                </a:tc>
                <a:tc>
                  <a:txBody>
                    <a:bodyPr/>
                    <a:lstStyle/>
                    <a:p>
                      <a:pPr marL="0" marR="107950" lvl="0" indent="0" algn="ctr" rtl="0">
                        <a:lnSpc>
                          <a:spcPct val="200000"/>
                        </a:lnSpc>
                        <a:spcBef>
                          <a:spcPts val="0"/>
                        </a:spcBef>
                        <a:spcAft>
                          <a:spcPts val="0"/>
                        </a:spcAft>
                        <a:buNone/>
                      </a:pPr>
                      <a:r>
                        <a:rPr lang="en" sz="1200" dirty="0">
                          <a:sym typeface="Times New Roman"/>
                        </a:rPr>
                        <a:t>8.9-9.6</a:t>
                      </a:r>
                      <a:endParaRPr sz="1200"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6"/>
          <p:cNvSpPr txBox="1">
            <a:spLocks noGrp="1"/>
          </p:cNvSpPr>
          <p:nvPr>
            <p:ph type="subTitle" idx="1"/>
          </p:nvPr>
        </p:nvSpPr>
        <p:spPr>
          <a:xfrm>
            <a:off x="457200" y="1028700"/>
            <a:ext cx="8458200" cy="35433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107950" lvl="0" indent="0" algn="just" rtl="0">
              <a:lnSpc>
                <a:spcPct val="115000"/>
              </a:lnSpc>
              <a:spcBef>
                <a:spcPts val="0"/>
              </a:spcBef>
              <a:spcAft>
                <a:spcPts val="0"/>
              </a:spcAft>
              <a:buClr>
                <a:schemeClr val="dk1"/>
              </a:buClr>
              <a:buSzPts val="1100"/>
              <a:buNone/>
            </a:pPr>
            <a:r>
              <a:rPr lang="en" sz="1600" b="1" dirty="0">
                <a:solidFill>
                  <a:schemeClr val="dk1"/>
                </a:solidFill>
                <a:latin typeface="Times New Roman"/>
                <a:ea typeface="Times New Roman"/>
                <a:cs typeface="Times New Roman"/>
                <a:sym typeface="Times New Roman"/>
              </a:rPr>
              <a:t>Alumina</a:t>
            </a:r>
            <a:endParaRPr sz="1900" dirty="0">
              <a:solidFill>
                <a:schemeClr val="dk1"/>
              </a:solidFill>
              <a:latin typeface="Times New Roman"/>
              <a:ea typeface="Times New Roman"/>
              <a:cs typeface="Times New Roman"/>
              <a:sym typeface="Times New Roman"/>
            </a:endParaRPr>
          </a:p>
          <a:p>
            <a:pPr marL="0" marR="107950" lvl="0" indent="0" algn="just" rtl="0">
              <a:lnSpc>
                <a:spcPct val="115000"/>
              </a:lnSpc>
              <a:spcBef>
                <a:spcPts val="800"/>
              </a:spcBef>
              <a:spcAft>
                <a:spcPts val="0"/>
              </a:spcAft>
              <a:buClr>
                <a:schemeClr val="dk1"/>
              </a:buClr>
              <a:buSzPts val="1100"/>
              <a:buNone/>
            </a:pPr>
            <a:r>
              <a:rPr lang="en" sz="1500" dirty="0">
                <a:solidFill>
                  <a:schemeClr val="dk1"/>
                </a:solidFill>
                <a:latin typeface="Times New Roman"/>
                <a:ea typeface="Times New Roman"/>
                <a:cs typeface="Times New Roman"/>
                <a:sym typeface="Times New Roman"/>
              </a:rPr>
              <a:t>Alumina is a preferred reinforcement material for borosilicate composites due to its high hardness and wear resistance. The improved mechanical characteristics of the resulting composite material, which is made of borosilicate and alumina, include higher hardness, strength, and stiffness.</a:t>
            </a:r>
            <a:endParaRPr sz="1500" dirty="0">
              <a:solidFill>
                <a:schemeClr val="dk1"/>
              </a:solidFill>
              <a:latin typeface="Times New Roman"/>
              <a:ea typeface="Times New Roman"/>
              <a:cs typeface="Times New Roman"/>
              <a:sym typeface="Times New Roman"/>
            </a:endParaRPr>
          </a:p>
          <a:p>
            <a:pPr marL="0" marR="107950" lvl="0" indent="0" algn="just" rtl="0">
              <a:lnSpc>
                <a:spcPct val="115000"/>
              </a:lnSpc>
              <a:spcBef>
                <a:spcPts val="800"/>
              </a:spcBef>
              <a:spcAft>
                <a:spcPts val="0"/>
              </a:spcAft>
              <a:buClr>
                <a:schemeClr val="dk1"/>
              </a:buClr>
              <a:buSzPts val="1100"/>
              <a:buFont typeface="Arial"/>
              <a:buNone/>
            </a:pPr>
            <a:r>
              <a:rPr lang="en" sz="1600" b="1" dirty="0">
                <a:solidFill>
                  <a:schemeClr val="dk1"/>
                </a:solidFill>
                <a:latin typeface="Times New Roman"/>
                <a:ea typeface="Times New Roman"/>
                <a:cs typeface="Times New Roman"/>
                <a:sym typeface="Times New Roman"/>
              </a:rPr>
              <a:t>Copper Oxide</a:t>
            </a:r>
            <a:endParaRPr sz="1600" b="1" dirty="0">
              <a:solidFill>
                <a:schemeClr val="dk1"/>
              </a:solidFill>
              <a:latin typeface="Times New Roman"/>
              <a:ea typeface="Times New Roman"/>
              <a:cs typeface="Times New Roman"/>
              <a:sym typeface="Times New Roman"/>
            </a:endParaRPr>
          </a:p>
          <a:p>
            <a:pPr marL="0" marR="107950" lvl="0" indent="0" algn="just" rtl="0">
              <a:lnSpc>
                <a:spcPct val="115000"/>
              </a:lnSpc>
              <a:spcBef>
                <a:spcPts val="800"/>
              </a:spcBef>
              <a:spcAft>
                <a:spcPts val="0"/>
              </a:spcAft>
              <a:buClr>
                <a:schemeClr val="dk1"/>
              </a:buClr>
              <a:buSzPts val="1100"/>
              <a:buFont typeface="Arial"/>
              <a:buNone/>
            </a:pPr>
            <a:r>
              <a:rPr lang="en" sz="1500" dirty="0">
                <a:solidFill>
                  <a:schemeClr val="dk1"/>
                </a:solidFill>
                <a:latin typeface="Times New Roman"/>
                <a:ea typeface="Times New Roman"/>
                <a:cs typeface="Times New Roman"/>
                <a:sym typeface="Times New Roman"/>
              </a:rPr>
              <a:t>Addition of Copper Oxide has the possibility of increasing the thermal properties of a material as it can withstand high temperatures, and mechanical properties such as hardness, strength and toughness which increases the overall durability of the material. Copper oxide is also a comparatively less expensive material and can be a viable option for the use as a reinforcement material for Borosilicate. </a:t>
            </a:r>
            <a:endParaRPr sz="1800" b="1" dirty="0">
              <a:solidFill>
                <a:schemeClr val="dk1"/>
              </a:solidFill>
              <a:latin typeface="Times New Roman"/>
              <a:ea typeface="Times New Roman"/>
              <a:cs typeface="Times New Roman"/>
              <a:sym typeface="Times New Roman"/>
            </a:endParaRPr>
          </a:p>
          <a:p>
            <a:pPr marL="0" lvl="0" indent="0" algn="ctr" rtl="0">
              <a:spcBef>
                <a:spcPts val="960"/>
              </a:spcBef>
              <a:spcAft>
                <a:spcPts val="0"/>
              </a:spcAft>
              <a:buClr>
                <a:schemeClr val="dk1"/>
              </a:buClr>
              <a:buSzPts val="800"/>
              <a:buNone/>
            </a:pPr>
            <a:br>
              <a:rPr lang="en" sz="800" dirty="0">
                <a:solidFill>
                  <a:schemeClr val="dk1"/>
                </a:solidFill>
                <a:latin typeface="Calibri"/>
                <a:ea typeface="Calibri"/>
                <a:cs typeface="Calibri"/>
                <a:sym typeface="Calibri"/>
              </a:rPr>
            </a:br>
            <a:endParaRPr sz="1100" b="0" dirty="0"/>
          </a:p>
          <a:p>
            <a:pPr marL="0" lvl="0" indent="0" algn="ctr" rtl="0">
              <a:spcBef>
                <a:spcPts val="220"/>
              </a:spcBef>
              <a:spcAft>
                <a:spcPts val="0"/>
              </a:spcAft>
              <a:buClr>
                <a:schemeClr val="dk1"/>
              </a:buClr>
              <a:buSzPts val="1100"/>
              <a:buNone/>
            </a:pPr>
            <a:br>
              <a:rPr lang="en" sz="1100" dirty="0">
                <a:solidFill>
                  <a:schemeClr val="dk1"/>
                </a:solidFill>
                <a:latin typeface="Calibri"/>
                <a:ea typeface="Calibri"/>
                <a:cs typeface="Calibri"/>
                <a:sym typeface="Calibri"/>
              </a:rPr>
            </a:br>
            <a:endParaRPr sz="1800" dirty="0"/>
          </a:p>
        </p:txBody>
      </p:sp>
      <p:sp>
        <p:nvSpPr>
          <p:cNvPr id="246" name="Google Shape;246;p36"/>
          <p:cNvSpPr txBox="1">
            <a:spLocks noGrp="1"/>
          </p:cNvSpPr>
          <p:nvPr>
            <p:ph type="ctrTitle"/>
          </p:nvPr>
        </p:nvSpPr>
        <p:spPr>
          <a:xfrm>
            <a:off x="1524000" y="114300"/>
            <a:ext cx="7391400" cy="800100"/>
          </a:xfrm>
          <a:prstGeom prst="rect">
            <a:avLst/>
          </a:prstGeom>
          <a:solidFill>
            <a:srgbClr val="00990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Selection of Materials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7"/>
          <p:cNvSpPr txBox="1">
            <a:spLocks noGrp="1"/>
          </p:cNvSpPr>
          <p:nvPr>
            <p:ph type="ctrTitle"/>
          </p:nvPr>
        </p:nvSpPr>
        <p:spPr>
          <a:xfrm>
            <a:off x="1524000" y="114300"/>
            <a:ext cx="7391400" cy="800100"/>
          </a:xfrm>
          <a:prstGeom prst="rect">
            <a:avLst/>
          </a:prstGeom>
          <a:solidFill>
            <a:srgbClr val="00990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PREPARATION OF COMPOSITE</a:t>
            </a:r>
            <a:endParaRPr/>
          </a:p>
        </p:txBody>
      </p:sp>
      <p:sp>
        <p:nvSpPr>
          <p:cNvPr id="252" name="Google Shape;252;p37"/>
          <p:cNvSpPr txBox="1">
            <a:spLocks noGrp="1"/>
          </p:cNvSpPr>
          <p:nvPr>
            <p:ph type="subTitle" idx="1"/>
          </p:nvPr>
        </p:nvSpPr>
        <p:spPr>
          <a:xfrm>
            <a:off x="457200" y="1028700"/>
            <a:ext cx="8458200" cy="35433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spcBef>
                <a:spcPts val="0"/>
              </a:spcBef>
              <a:spcAft>
                <a:spcPts val="0"/>
              </a:spcAft>
              <a:buClr>
                <a:srgbClr val="000000"/>
              </a:buClr>
              <a:buSzPts val="2000"/>
              <a:buNone/>
            </a:pPr>
            <a:r>
              <a:rPr lang="en" sz="2000" b="1" i="0" u="none" strike="noStrike">
                <a:solidFill>
                  <a:srgbClr val="000000"/>
                </a:solidFill>
                <a:latin typeface="Times New Roman"/>
                <a:ea typeface="Times New Roman"/>
                <a:cs typeface="Times New Roman"/>
                <a:sym typeface="Times New Roman"/>
              </a:rPr>
              <a:t>Preparation process:</a:t>
            </a:r>
            <a:endParaRPr sz="2000" b="1" i="0" u="none" strike="noStrike">
              <a:solidFill>
                <a:srgbClr val="000000"/>
              </a:solidFill>
              <a:latin typeface="Times New Roman"/>
              <a:ea typeface="Times New Roman"/>
              <a:cs typeface="Times New Roman"/>
              <a:sym typeface="Times New Roman"/>
            </a:endParaRPr>
          </a:p>
          <a:p>
            <a:pPr marL="0" lvl="0" indent="0" algn="just" rtl="0">
              <a:spcBef>
                <a:spcPts val="0"/>
              </a:spcBef>
              <a:spcAft>
                <a:spcPts val="0"/>
              </a:spcAft>
              <a:buClr>
                <a:srgbClr val="000000"/>
              </a:buClr>
              <a:buSzPts val="2000"/>
              <a:buNone/>
            </a:pPr>
            <a:endParaRPr sz="2000" b="1">
              <a:solidFill>
                <a:srgbClr val="000000"/>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Preparation of composite material is basically the making of a new material consisting of 2 or more materials. There are various methods for composite preparation depending on the type of material being prepared and in this case, since the materials are in powdered form, we follow the Powder metallurgy method for preparation of the material. For composite preparation, the steps usually are as follows:</a:t>
            </a:r>
            <a:endParaRPr sz="1600">
              <a:solidFill>
                <a:schemeClr val="dk1"/>
              </a:solidFill>
              <a:latin typeface="Times New Roman"/>
              <a:ea typeface="Times New Roman"/>
              <a:cs typeface="Times New Roman"/>
              <a:sym typeface="Times New Roman"/>
            </a:endParaRPr>
          </a:p>
          <a:p>
            <a:pPr marL="914400" lvl="0" indent="-330200" algn="just" rtl="0">
              <a:spcBef>
                <a:spcPts val="80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Scaling and mixing</a:t>
            </a:r>
            <a:endParaRPr sz="1600">
              <a:solidFill>
                <a:schemeClr val="dk1"/>
              </a:solidFill>
              <a:latin typeface="Times New Roman"/>
              <a:ea typeface="Times New Roman"/>
              <a:cs typeface="Times New Roman"/>
              <a:sym typeface="Times New Roman"/>
            </a:endParaRPr>
          </a:p>
          <a:p>
            <a:pPr marL="914400" lvl="0" indent="-330200" algn="just" rtl="0">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Grinding</a:t>
            </a:r>
            <a:endParaRPr sz="1600">
              <a:solidFill>
                <a:schemeClr val="dk1"/>
              </a:solidFill>
              <a:latin typeface="Times New Roman"/>
              <a:ea typeface="Times New Roman"/>
              <a:cs typeface="Times New Roman"/>
              <a:sym typeface="Times New Roman"/>
            </a:endParaRPr>
          </a:p>
          <a:p>
            <a:pPr marL="914400" lvl="0" indent="-330200" algn="just" rtl="0">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Pellet Preparation </a:t>
            </a:r>
            <a:endParaRPr sz="1600">
              <a:solidFill>
                <a:schemeClr val="dk1"/>
              </a:solidFill>
              <a:latin typeface="Times New Roman"/>
              <a:ea typeface="Times New Roman"/>
              <a:cs typeface="Times New Roman"/>
              <a:sym typeface="Times New Roman"/>
            </a:endParaRPr>
          </a:p>
          <a:p>
            <a:pPr marL="914400" lvl="0" indent="-330200" algn="just" rtl="0">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Sintering</a:t>
            </a:r>
            <a:endParaRPr sz="1600">
              <a:solidFill>
                <a:schemeClr val="dk1"/>
              </a:solidFill>
              <a:latin typeface="Times New Roman"/>
              <a:ea typeface="Times New Roman"/>
              <a:cs typeface="Times New Roman"/>
              <a:sym typeface="Times New Roman"/>
            </a:endParaRPr>
          </a:p>
          <a:p>
            <a:pPr marL="914400" lvl="0" indent="-330200" algn="just" rtl="0">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Polishing</a:t>
            </a:r>
            <a:endParaRPr sz="1600">
              <a:solidFill>
                <a:schemeClr val="dk1"/>
              </a:solidFill>
              <a:latin typeface="Times New Roman"/>
              <a:ea typeface="Times New Roman"/>
              <a:cs typeface="Times New Roman"/>
              <a:sym typeface="Times New Roman"/>
            </a:endParaRPr>
          </a:p>
          <a:p>
            <a:pPr marL="0" lvl="0" indent="0" algn="ctr" rtl="0">
              <a:spcBef>
                <a:spcPts val="1020"/>
              </a:spcBef>
              <a:spcAft>
                <a:spcPts val="0"/>
              </a:spcAft>
              <a:buClr>
                <a:schemeClr val="dk1"/>
              </a:buClr>
              <a:buSzPts val="1100"/>
              <a:buNone/>
            </a:pPr>
            <a:br>
              <a:rPr lang="en" sz="1100">
                <a:solidFill>
                  <a:schemeClr val="dk1"/>
                </a:solidFill>
                <a:latin typeface="Calibri"/>
                <a:ea typeface="Calibri"/>
                <a:cs typeface="Calibri"/>
                <a:sym typeface="Calibri"/>
              </a:rPr>
            </a:b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8"/>
          <p:cNvSpPr txBox="1">
            <a:spLocks noGrp="1"/>
          </p:cNvSpPr>
          <p:nvPr>
            <p:ph type="ctrTitle"/>
          </p:nvPr>
        </p:nvSpPr>
        <p:spPr>
          <a:xfrm>
            <a:off x="1524000" y="114300"/>
            <a:ext cx="7391400" cy="800100"/>
          </a:xfrm>
          <a:prstGeom prst="rect">
            <a:avLst/>
          </a:prstGeom>
          <a:solidFill>
            <a:srgbClr val="00990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PREPARATION OF COMPOSITE</a:t>
            </a:r>
            <a:endParaRPr/>
          </a:p>
        </p:txBody>
      </p:sp>
      <p:sp>
        <p:nvSpPr>
          <p:cNvPr id="258" name="Google Shape;258;p38"/>
          <p:cNvSpPr txBox="1">
            <a:spLocks noGrp="1"/>
          </p:cNvSpPr>
          <p:nvPr>
            <p:ph type="subTitle" idx="1"/>
          </p:nvPr>
        </p:nvSpPr>
        <p:spPr>
          <a:xfrm>
            <a:off x="457200" y="1016075"/>
            <a:ext cx="8458200" cy="35433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1332230" lvl="0" indent="0" algn="l" rtl="0">
              <a:lnSpc>
                <a:spcPct val="107916"/>
              </a:lnSpc>
              <a:spcBef>
                <a:spcPts val="300"/>
              </a:spcBef>
              <a:spcAft>
                <a:spcPts val="0"/>
              </a:spcAft>
              <a:buClr>
                <a:schemeClr val="dk1"/>
              </a:buClr>
              <a:buSzPts val="1100"/>
              <a:buNone/>
            </a:pPr>
            <a:r>
              <a:rPr lang="en" sz="1500" b="1">
                <a:solidFill>
                  <a:schemeClr val="dk1"/>
                </a:solidFill>
                <a:latin typeface="Times New Roman"/>
                <a:ea typeface="Times New Roman"/>
                <a:cs typeface="Times New Roman"/>
                <a:sym typeface="Times New Roman"/>
              </a:rPr>
              <a:t>SCALING</a:t>
            </a:r>
            <a:endParaRPr sz="1500" b="1">
              <a:solidFill>
                <a:schemeClr val="dk1"/>
              </a:solidFill>
              <a:latin typeface="Times New Roman"/>
              <a:ea typeface="Times New Roman"/>
              <a:cs typeface="Times New Roman"/>
              <a:sym typeface="Times New Roman"/>
            </a:endParaRPr>
          </a:p>
          <a:p>
            <a:pPr marL="0" marR="0" lvl="0" indent="0" algn="l" rtl="0">
              <a:lnSpc>
                <a:spcPct val="107916"/>
              </a:lnSpc>
              <a:spcBef>
                <a:spcPts val="800"/>
              </a:spcBef>
              <a:spcAft>
                <a:spcPts val="0"/>
              </a:spcAft>
              <a:buClr>
                <a:schemeClr val="dk1"/>
              </a:buClr>
              <a:buSzPts val="1100"/>
              <a:buNone/>
            </a:pPr>
            <a:r>
              <a:rPr lang="en" sz="1500">
                <a:solidFill>
                  <a:schemeClr val="dk1"/>
                </a:solidFill>
                <a:latin typeface="Times New Roman"/>
                <a:ea typeface="Times New Roman"/>
                <a:cs typeface="Times New Roman"/>
                <a:sym typeface="Times New Roman"/>
              </a:rPr>
              <a:t>The material is scaled upon the DT830D (0.01g to 200g) Gold Weighing Scale. The 3 grams are used for each composition sample.</a:t>
            </a:r>
            <a:endParaRPr sz="1500">
              <a:solidFill>
                <a:schemeClr val="dk1"/>
              </a:solidFill>
              <a:latin typeface="Times New Roman"/>
              <a:ea typeface="Times New Roman"/>
              <a:cs typeface="Times New Roman"/>
              <a:sym typeface="Times New Roman"/>
            </a:endParaRPr>
          </a:p>
          <a:p>
            <a:pPr marL="0" marR="1332230" lvl="0" indent="0" algn="l" rtl="0">
              <a:lnSpc>
                <a:spcPct val="107916"/>
              </a:lnSpc>
              <a:spcBef>
                <a:spcPts val="800"/>
              </a:spcBef>
              <a:spcAft>
                <a:spcPts val="0"/>
              </a:spcAft>
              <a:buClr>
                <a:schemeClr val="dk1"/>
              </a:buClr>
              <a:buSzPts val="1100"/>
              <a:buNone/>
            </a:pPr>
            <a:r>
              <a:rPr lang="en" sz="1500" b="1">
                <a:solidFill>
                  <a:schemeClr val="dk1"/>
                </a:solidFill>
                <a:latin typeface="Times New Roman"/>
                <a:ea typeface="Times New Roman"/>
                <a:cs typeface="Times New Roman"/>
                <a:sym typeface="Times New Roman"/>
              </a:rPr>
              <a:t> MIXING</a:t>
            </a:r>
            <a:br>
              <a:rPr lang="en" sz="1500">
                <a:solidFill>
                  <a:schemeClr val="dk1"/>
                </a:solidFill>
                <a:latin typeface="Times New Roman"/>
                <a:ea typeface="Times New Roman"/>
                <a:cs typeface="Times New Roman"/>
                <a:sym typeface="Times New Roman"/>
              </a:rPr>
            </a:br>
            <a:r>
              <a:rPr lang="en" sz="1500">
                <a:solidFill>
                  <a:schemeClr val="dk1"/>
                </a:solidFill>
                <a:latin typeface="Times New Roman"/>
                <a:ea typeface="Times New Roman"/>
                <a:cs typeface="Times New Roman"/>
                <a:sym typeface="Times New Roman"/>
              </a:rPr>
              <a:t>Once, the scaling process is done for the different weight ratios of the parent materials, the materials are poured in to a mortar and mixed with a pestle by hand. The mixing is done by hand for a time duration of 30 minutes. </a:t>
            </a:r>
            <a:endParaRPr sz="1500">
              <a:solidFill>
                <a:schemeClr val="dk1"/>
              </a:solidFill>
              <a:latin typeface="Times New Roman"/>
              <a:ea typeface="Times New Roman"/>
              <a:cs typeface="Times New Roman"/>
              <a:sym typeface="Times New Roman"/>
            </a:endParaRPr>
          </a:p>
          <a:p>
            <a:pPr marL="0" marR="1332230" lvl="0" indent="0" algn="l" rtl="0">
              <a:lnSpc>
                <a:spcPct val="107916"/>
              </a:lnSpc>
              <a:spcBef>
                <a:spcPts val="800"/>
              </a:spcBef>
              <a:spcAft>
                <a:spcPts val="0"/>
              </a:spcAft>
              <a:buClr>
                <a:schemeClr val="dk1"/>
              </a:buClr>
              <a:buSzPts val="1100"/>
              <a:buNone/>
            </a:pPr>
            <a:r>
              <a:rPr lang="en" sz="1500" b="1">
                <a:solidFill>
                  <a:schemeClr val="dk1"/>
                </a:solidFill>
                <a:latin typeface="Times New Roman"/>
                <a:ea typeface="Times New Roman"/>
                <a:cs typeface="Times New Roman"/>
                <a:sym typeface="Times New Roman"/>
              </a:rPr>
              <a:t>GRINDING :</a:t>
            </a:r>
            <a:endParaRPr sz="1500" b="1">
              <a:solidFill>
                <a:schemeClr val="dk1"/>
              </a:solidFill>
              <a:latin typeface="Times New Roman"/>
              <a:ea typeface="Times New Roman"/>
              <a:cs typeface="Times New Roman"/>
              <a:sym typeface="Times New Roman"/>
            </a:endParaRPr>
          </a:p>
          <a:p>
            <a:pPr marL="0" lvl="0" indent="0" algn="just" rtl="0">
              <a:spcBef>
                <a:spcPts val="800"/>
              </a:spcBef>
              <a:spcAft>
                <a:spcPts val="0"/>
              </a:spcAft>
              <a:buClr>
                <a:schemeClr val="dk1"/>
              </a:buClr>
              <a:buSzPts val="1100"/>
              <a:buNone/>
            </a:pPr>
            <a:r>
              <a:rPr lang="en" sz="1500">
                <a:solidFill>
                  <a:schemeClr val="dk1"/>
                </a:solidFill>
                <a:latin typeface="Times New Roman"/>
                <a:ea typeface="Times New Roman"/>
                <a:cs typeface="Times New Roman"/>
                <a:sym typeface="Times New Roman"/>
              </a:rPr>
              <a:t>In the grinding process, each dried sample is divided into 3 different samples, i.e. 1gm each for pellet preparation. These 1gm samples are taken separately into the motar and one drop of PVA solution is added to the mixture and grinded for about 2 minutes for proper binding of each 1gm sample. </a:t>
            </a:r>
            <a:endParaRPr sz="1500">
              <a:solidFill>
                <a:schemeClr val="dk1"/>
              </a:solidFill>
              <a:latin typeface="Times New Roman"/>
              <a:ea typeface="Times New Roman"/>
              <a:cs typeface="Times New Roman"/>
              <a:sym typeface="Times New Roman"/>
            </a:endParaRPr>
          </a:p>
          <a:p>
            <a:pPr marL="0" marR="1332230" lvl="0" indent="0" algn="l" rtl="0">
              <a:lnSpc>
                <a:spcPct val="107916"/>
              </a:lnSpc>
              <a:spcBef>
                <a:spcPts val="800"/>
              </a:spcBef>
              <a:spcAft>
                <a:spcPts val="0"/>
              </a:spcAft>
              <a:buClr>
                <a:schemeClr val="dk1"/>
              </a:buClr>
              <a:buSzPts val="1100"/>
              <a:buFont typeface="Arial"/>
              <a:buNone/>
            </a:pPr>
            <a:endParaRPr sz="1500">
              <a:solidFill>
                <a:schemeClr val="dk1"/>
              </a:solidFill>
              <a:latin typeface="Times New Roman"/>
              <a:ea typeface="Times New Roman"/>
              <a:cs typeface="Times New Roman"/>
              <a:sym typeface="Times New Roman"/>
            </a:endParaRPr>
          </a:p>
          <a:p>
            <a:pPr marL="0" lvl="0" indent="0" algn="ctr" rtl="0">
              <a:spcBef>
                <a:spcPts val="1080"/>
              </a:spcBef>
              <a:spcAft>
                <a:spcPts val="0"/>
              </a:spcAft>
              <a:buClr>
                <a:schemeClr val="dk1"/>
              </a:buClr>
              <a:buSzPts val="1400"/>
              <a:buFont typeface="Arial"/>
              <a:buNone/>
            </a:pPr>
            <a:endParaRPr sz="14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9"/>
          <p:cNvSpPr txBox="1">
            <a:spLocks noGrp="1"/>
          </p:cNvSpPr>
          <p:nvPr>
            <p:ph type="ctrTitle"/>
          </p:nvPr>
        </p:nvSpPr>
        <p:spPr>
          <a:xfrm>
            <a:off x="1524000" y="114300"/>
            <a:ext cx="7391400" cy="800100"/>
          </a:xfrm>
          <a:prstGeom prst="rect">
            <a:avLst/>
          </a:prstGeom>
          <a:solidFill>
            <a:srgbClr val="009900"/>
          </a:solidFill>
          <a:ln>
            <a:noFill/>
          </a:ln>
          <a:effectLst>
            <a:outerShdw blurRad="40000" dist="20000" dir="5400000" rotWithShape="0">
              <a:srgbClr val="000000">
                <a:alpha val="3765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PREPARATION OF COMPOSITE</a:t>
            </a:r>
            <a:endParaRPr/>
          </a:p>
        </p:txBody>
      </p:sp>
      <p:sp>
        <p:nvSpPr>
          <p:cNvPr id="264" name="Google Shape;264;p39"/>
          <p:cNvSpPr txBox="1">
            <a:spLocks noGrp="1"/>
          </p:cNvSpPr>
          <p:nvPr>
            <p:ph type="subTitle" idx="1"/>
          </p:nvPr>
        </p:nvSpPr>
        <p:spPr>
          <a:xfrm>
            <a:off x="457200" y="1016075"/>
            <a:ext cx="8458200" cy="35433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1332230" lvl="0" indent="0" algn="l" rtl="0">
              <a:lnSpc>
                <a:spcPct val="107916"/>
              </a:lnSpc>
              <a:spcBef>
                <a:spcPts val="300"/>
              </a:spcBef>
              <a:spcAft>
                <a:spcPts val="0"/>
              </a:spcAft>
              <a:buClr>
                <a:schemeClr val="dk1"/>
              </a:buClr>
              <a:buSzPts val="1100"/>
              <a:buFont typeface="Arial"/>
              <a:buNone/>
            </a:pPr>
            <a:r>
              <a:rPr lang="en" sz="1500" b="1">
                <a:solidFill>
                  <a:schemeClr val="dk1"/>
                </a:solidFill>
                <a:latin typeface="Times New Roman"/>
                <a:ea typeface="Times New Roman"/>
                <a:cs typeface="Times New Roman"/>
                <a:sym typeface="Times New Roman"/>
              </a:rPr>
              <a:t> Pellet Preparation:</a:t>
            </a:r>
            <a:endParaRPr sz="1500">
              <a:solidFill>
                <a:schemeClr val="dk1"/>
              </a:solidFill>
              <a:latin typeface="Times New Roman"/>
              <a:ea typeface="Times New Roman"/>
              <a:cs typeface="Times New Roman"/>
              <a:sym typeface="Times New Roman"/>
            </a:endParaRPr>
          </a:p>
          <a:p>
            <a:pPr marL="0" lvl="0" indent="0" algn="just" rtl="0">
              <a:spcBef>
                <a:spcPts val="800"/>
              </a:spcBef>
              <a:spcAft>
                <a:spcPts val="0"/>
              </a:spcAft>
              <a:buClr>
                <a:schemeClr val="dk1"/>
              </a:buClr>
              <a:buSzPts val="1100"/>
              <a:buFont typeface="Arial"/>
              <a:buNone/>
            </a:pPr>
            <a:r>
              <a:rPr lang="en" sz="1500">
                <a:solidFill>
                  <a:schemeClr val="dk1"/>
                </a:solidFill>
                <a:latin typeface="Times New Roman"/>
                <a:ea typeface="Times New Roman"/>
                <a:cs typeface="Times New Roman"/>
                <a:sym typeface="Times New Roman"/>
              </a:rPr>
              <a:t>IR FTIR XRF dies Set is used for the preparation of pellets. Die set is variable by the pellet size and volume, for this composite 10mm Die set is utilized. This device is used to compact the powder to the defined diameter. The pellet adjusts the height by the amount of powder added to the die set.</a:t>
            </a:r>
            <a:endParaRPr sz="1500">
              <a:solidFill>
                <a:schemeClr val="dk1"/>
              </a:solidFill>
              <a:latin typeface="Times New Roman"/>
              <a:ea typeface="Times New Roman"/>
              <a:cs typeface="Times New Roman"/>
              <a:sym typeface="Times New Roman"/>
            </a:endParaRPr>
          </a:p>
          <a:p>
            <a:pPr marL="0" lvl="0" indent="0" algn="ctr" rtl="0">
              <a:spcBef>
                <a:spcPts val="1080"/>
              </a:spcBef>
              <a:spcAft>
                <a:spcPts val="0"/>
              </a:spcAft>
              <a:buClr>
                <a:schemeClr val="dk1"/>
              </a:buClr>
              <a:buSzPts val="1400"/>
              <a:buFont typeface="Arial"/>
              <a:buNone/>
            </a:pPr>
            <a:endParaRPr sz="1500" b="1">
              <a:solidFill>
                <a:schemeClr val="dk1"/>
              </a:solidFill>
              <a:latin typeface="Times New Roman"/>
              <a:ea typeface="Times New Roman"/>
              <a:cs typeface="Times New Roman"/>
              <a:sym typeface="Times New Roman"/>
            </a:endParaRPr>
          </a:p>
        </p:txBody>
      </p:sp>
      <p:pic>
        <p:nvPicPr>
          <p:cNvPr id="9" name="Picture 8">
            <a:extLst>
              <a:ext uri="{FF2B5EF4-FFF2-40B4-BE49-F238E27FC236}">
                <a16:creationId xmlns:a16="http://schemas.microsoft.com/office/drawing/2014/main" id="{5008D7E0-189A-41A4-C411-EE80F55DDA33}"/>
              </a:ext>
            </a:extLst>
          </p:cNvPr>
          <p:cNvPicPr>
            <a:picLocks noChangeAspect="1"/>
          </p:cNvPicPr>
          <p:nvPr/>
        </p:nvPicPr>
        <p:blipFill>
          <a:blip r:embed="rId3"/>
          <a:stretch>
            <a:fillRect/>
          </a:stretch>
        </p:blipFill>
        <p:spPr>
          <a:xfrm>
            <a:off x="988159" y="2286000"/>
            <a:ext cx="1624050" cy="2160000"/>
          </a:xfrm>
          <a:prstGeom prst="rect">
            <a:avLst/>
          </a:prstGeom>
        </p:spPr>
      </p:pic>
      <p:pic>
        <p:nvPicPr>
          <p:cNvPr id="11" name="Picture 10">
            <a:extLst>
              <a:ext uri="{FF2B5EF4-FFF2-40B4-BE49-F238E27FC236}">
                <a16:creationId xmlns:a16="http://schemas.microsoft.com/office/drawing/2014/main" id="{C1A04A96-C97B-7824-280D-8D4ABB1A1A74}"/>
              </a:ext>
            </a:extLst>
          </p:cNvPr>
          <p:cNvPicPr>
            <a:picLocks noChangeAspect="1"/>
          </p:cNvPicPr>
          <p:nvPr/>
        </p:nvPicPr>
        <p:blipFill>
          <a:blip r:embed="rId4"/>
          <a:stretch>
            <a:fillRect/>
          </a:stretch>
        </p:blipFill>
        <p:spPr>
          <a:xfrm>
            <a:off x="3030358" y="2286000"/>
            <a:ext cx="2872818" cy="2160000"/>
          </a:xfrm>
          <a:prstGeom prst="rect">
            <a:avLst/>
          </a:prstGeom>
        </p:spPr>
      </p:pic>
      <p:pic>
        <p:nvPicPr>
          <p:cNvPr id="13" name="Picture 12">
            <a:extLst>
              <a:ext uri="{FF2B5EF4-FFF2-40B4-BE49-F238E27FC236}">
                <a16:creationId xmlns:a16="http://schemas.microsoft.com/office/drawing/2014/main" id="{26756455-14D9-3D8C-017F-4FB0BF146358}"/>
              </a:ext>
            </a:extLst>
          </p:cNvPr>
          <p:cNvPicPr>
            <a:picLocks noChangeAspect="1"/>
          </p:cNvPicPr>
          <p:nvPr/>
        </p:nvPicPr>
        <p:blipFill>
          <a:blip r:embed="rId5"/>
          <a:stretch>
            <a:fillRect/>
          </a:stretch>
        </p:blipFill>
        <p:spPr>
          <a:xfrm>
            <a:off x="6321325" y="2286000"/>
            <a:ext cx="1624050" cy="216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0"/>
          <p:cNvSpPr txBox="1">
            <a:spLocks noGrp="1"/>
          </p:cNvSpPr>
          <p:nvPr>
            <p:ph type="ctrTitle"/>
          </p:nvPr>
        </p:nvSpPr>
        <p:spPr>
          <a:xfrm>
            <a:off x="1524000" y="114300"/>
            <a:ext cx="7391400" cy="800100"/>
          </a:xfrm>
          <a:prstGeom prst="rect">
            <a:avLst/>
          </a:prstGeom>
          <a:solidFill>
            <a:srgbClr val="009900"/>
          </a:solidFill>
          <a:ln>
            <a:noFill/>
          </a:ln>
          <a:effectLst>
            <a:outerShdw blurRad="40000" dist="20000" dir="5400000" rotWithShape="0">
              <a:srgbClr val="000000">
                <a:alpha val="3765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PREPARATION OF COMPOSITE</a:t>
            </a:r>
            <a:endParaRPr/>
          </a:p>
        </p:txBody>
      </p:sp>
      <p:sp>
        <p:nvSpPr>
          <p:cNvPr id="270" name="Google Shape;270;p40"/>
          <p:cNvSpPr txBox="1">
            <a:spLocks noGrp="1"/>
          </p:cNvSpPr>
          <p:nvPr>
            <p:ph type="subTitle" idx="1"/>
          </p:nvPr>
        </p:nvSpPr>
        <p:spPr>
          <a:xfrm>
            <a:off x="457200" y="1016075"/>
            <a:ext cx="5264944" cy="35433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numCol="1" spcCol="720000" anchor="t" anchorCtr="0">
            <a:noAutofit/>
          </a:bodyPr>
          <a:lstStyle/>
          <a:p>
            <a:pPr marL="0" marR="1332230" lvl="0" indent="0" algn="l" rtl="0">
              <a:lnSpc>
                <a:spcPct val="107916"/>
              </a:lnSpc>
              <a:spcBef>
                <a:spcPts val="300"/>
              </a:spcBef>
              <a:spcAft>
                <a:spcPts val="0"/>
              </a:spcAft>
              <a:buClr>
                <a:schemeClr val="dk1"/>
              </a:buClr>
              <a:buSzPts val="1100"/>
              <a:buFont typeface="Arial"/>
              <a:buNone/>
            </a:pPr>
            <a:r>
              <a:rPr lang="en" sz="1500" b="1" dirty="0">
                <a:solidFill>
                  <a:schemeClr val="dk1"/>
                </a:solidFill>
                <a:latin typeface="Times New Roman"/>
                <a:ea typeface="Times New Roman"/>
                <a:cs typeface="Times New Roman"/>
                <a:sym typeface="Times New Roman"/>
              </a:rPr>
              <a:t>Sintering: </a:t>
            </a:r>
          </a:p>
          <a:p>
            <a:pPr marL="0" marR="1332230" lvl="0" indent="0" algn="just" rtl="0">
              <a:lnSpc>
                <a:spcPct val="107916"/>
              </a:lnSpc>
              <a:spcBef>
                <a:spcPts val="800"/>
              </a:spcBef>
              <a:spcAft>
                <a:spcPts val="0"/>
              </a:spcAft>
              <a:buClr>
                <a:schemeClr val="dk1"/>
              </a:buClr>
              <a:buSzPts val="1100"/>
              <a:buFont typeface="Arial"/>
              <a:buNone/>
            </a:pPr>
            <a:r>
              <a:rPr lang="en-US" sz="1500" dirty="0">
                <a:solidFill>
                  <a:schemeClr val="dk1"/>
                </a:solidFill>
                <a:latin typeface="Times New Roman"/>
                <a:ea typeface="Times New Roman"/>
                <a:cs typeface="Times New Roman"/>
                <a:sym typeface="Times New Roman"/>
              </a:rPr>
              <a:t>After preparing the pellets in the compaction device, the pellets are heated at a high temperature that is below the melting point of all components of the composite material. First pellets are sintered at 300°c for 20 minutes and gradually increasing temperature to 5°c  per minute until reaching 850. Then pellets are sintered in an oven at 850°c for 30 minutes and gradually slowed like they increase and cooled down completely in the oven overnight.</a:t>
            </a:r>
          </a:p>
          <a:p>
            <a:pPr marL="0" lvl="0" indent="0" algn="just" rtl="0">
              <a:spcBef>
                <a:spcPts val="800"/>
              </a:spcBef>
              <a:spcAft>
                <a:spcPts val="0"/>
              </a:spcAft>
              <a:buClr>
                <a:schemeClr val="dk1"/>
              </a:buClr>
              <a:buSzPts val="1100"/>
              <a:buFont typeface="Arial"/>
              <a:buNone/>
            </a:pPr>
            <a:endParaRPr lang="en-IN" sz="1500" dirty="0"/>
          </a:p>
          <a:p>
            <a:pPr marL="0" lvl="0" indent="0" algn="ctr" rtl="0">
              <a:spcBef>
                <a:spcPts val="1080"/>
              </a:spcBef>
              <a:spcAft>
                <a:spcPts val="0"/>
              </a:spcAft>
              <a:buClr>
                <a:schemeClr val="dk1"/>
              </a:buClr>
              <a:buSzPts val="1400"/>
              <a:buFont typeface="Arial"/>
              <a:buNone/>
            </a:pPr>
            <a:endParaRPr lang="en-IN" sz="1500" b="1" dirty="0">
              <a:solidFill>
                <a:schemeClr val="dk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DED367AB-DE08-7960-5C50-054B3D980A3A}"/>
              </a:ext>
            </a:extLst>
          </p:cNvPr>
          <p:cNvPicPr>
            <a:picLocks noChangeAspect="1"/>
          </p:cNvPicPr>
          <p:nvPr/>
        </p:nvPicPr>
        <p:blipFill>
          <a:blip r:embed="rId3"/>
          <a:stretch>
            <a:fillRect/>
          </a:stretch>
        </p:blipFill>
        <p:spPr>
          <a:xfrm>
            <a:off x="6153130" y="1092994"/>
            <a:ext cx="2533670" cy="336980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1"/>
          <p:cNvSpPr txBox="1">
            <a:spLocks noGrp="1"/>
          </p:cNvSpPr>
          <p:nvPr>
            <p:ph type="ctrTitle"/>
          </p:nvPr>
        </p:nvSpPr>
        <p:spPr>
          <a:xfrm>
            <a:off x="1524000" y="89075"/>
            <a:ext cx="7391400" cy="800100"/>
          </a:xfrm>
          <a:prstGeom prst="rect">
            <a:avLst/>
          </a:prstGeom>
          <a:solidFill>
            <a:srgbClr val="009900"/>
          </a:solidFill>
          <a:ln>
            <a:noFill/>
          </a:ln>
          <a:effectLst>
            <a:outerShdw blurRad="40000" dist="20000" dir="5400000" rotWithShape="0">
              <a:srgbClr val="000000">
                <a:alpha val="3765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RESULTS AND DISCUSSIONS</a:t>
            </a:r>
            <a:endParaRPr/>
          </a:p>
        </p:txBody>
      </p:sp>
      <p:sp>
        <p:nvSpPr>
          <p:cNvPr id="276" name="Google Shape;276;p41"/>
          <p:cNvSpPr txBox="1">
            <a:spLocks noGrp="1"/>
          </p:cNvSpPr>
          <p:nvPr>
            <p:ph type="subTitle" idx="1"/>
          </p:nvPr>
        </p:nvSpPr>
        <p:spPr>
          <a:xfrm>
            <a:off x="457201" y="1016075"/>
            <a:ext cx="4629149" cy="35433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1332230" lvl="0" indent="0" algn="l" rtl="0">
              <a:lnSpc>
                <a:spcPct val="107916"/>
              </a:lnSpc>
              <a:spcBef>
                <a:spcPts val="300"/>
              </a:spcBef>
              <a:spcAft>
                <a:spcPts val="0"/>
              </a:spcAft>
              <a:buClr>
                <a:schemeClr val="dk1"/>
              </a:buClr>
              <a:buSzPts val="1100"/>
              <a:buFont typeface="Arial"/>
              <a:buNone/>
            </a:pPr>
            <a:r>
              <a:rPr lang="en" sz="1600" b="1" dirty="0">
                <a:solidFill>
                  <a:schemeClr val="dk1"/>
                </a:solidFill>
                <a:latin typeface="Times New Roman"/>
                <a:ea typeface="Times New Roman"/>
                <a:cs typeface="Times New Roman"/>
                <a:sym typeface="Times New Roman"/>
              </a:rPr>
              <a:t>RESULTS AND DISCUSSIONS</a:t>
            </a:r>
            <a:endParaRPr sz="1600" b="1" dirty="0">
              <a:solidFill>
                <a:schemeClr val="dk1"/>
              </a:solidFill>
              <a:latin typeface="Times New Roman"/>
              <a:ea typeface="Times New Roman"/>
              <a:cs typeface="Times New Roman"/>
              <a:sym typeface="Times New Roman"/>
            </a:endParaRPr>
          </a:p>
          <a:p>
            <a:pPr marL="0" lvl="0" indent="0" algn="just" rtl="0">
              <a:spcBef>
                <a:spcPts val="800"/>
              </a:spcBef>
              <a:spcAft>
                <a:spcPts val="0"/>
              </a:spcAft>
              <a:buClr>
                <a:schemeClr val="dk1"/>
              </a:buClr>
              <a:buSzPts val="1100"/>
              <a:buFont typeface="Arial"/>
              <a:buNone/>
            </a:pPr>
            <a:r>
              <a:rPr lang="en" sz="1400" dirty="0">
                <a:solidFill>
                  <a:schemeClr val="dk1"/>
                </a:solidFill>
                <a:latin typeface="Times New Roman"/>
                <a:ea typeface="Times New Roman"/>
                <a:cs typeface="Times New Roman"/>
                <a:sym typeface="Times New Roman"/>
              </a:rPr>
              <a:t>For the composite prepared, in this scenario, the tests performed are Micro Vickers Hardness, Optical Microscope at 200x, and Scanning Electron Microscopy. These tests performed on the composite material provided the following results that justify the project. </a:t>
            </a:r>
            <a:endParaRPr sz="1400" dirty="0">
              <a:solidFill>
                <a:schemeClr val="dk1"/>
              </a:solidFill>
              <a:latin typeface="Times New Roman"/>
              <a:ea typeface="Times New Roman"/>
              <a:cs typeface="Times New Roman"/>
              <a:sym typeface="Times New Roman"/>
            </a:endParaRPr>
          </a:p>
          <a:p>
            <a:pPr marL="0" marR="1332230" lvl="0" indent="0" algn="l" rtl="0">
              <a:lnSpc>
                <a:spcPct val="107916"/>
              </a:lnSpc>
              <a:spcBef>
                <a:spcPts val="800"/>
              </a:spcBef>
              <a:spcAft>
                <a:spcPts val="0"/>
              </a:spcAft>
              <a:buClr>
                <a:schemeClr val="dk1"/>
              </a:buClr>
              <a:buSzPts val="1100"/>
              <a:buFont typeface="Arial"/>
              <a:buNone/>
            </a:pPr>
            <a:r>
              <a:rPr lang="en" sz="1500" b="1" dirty="0">
                <a:solidFill>
                  <a:schemeClr val="dk1"/>
                </a:solidFill>
                <a:latin typeface="Times New Roman"/>
                <a:ea typeface="Times New Roman"/>
                <a:cs typeface="Times New Roman"/>
                <a:sym typeface="Times New Roman"/>
              </a:rPr>
              <a:t>Micro Vickers Hardness:</a:t>
            </a:r>
            <a:endParaRPr sz="1500" b="1" dirty="0">
              <a:solidFill>
                <a:schemeClr val="dk1"/>
              </a:solidFill>
              <a:latin typeface="Times New Roman"/>
              <a:ea typeface="Times New Roman"/>
              <a:cs typeface="Times New Roman"/>
              <a:sym typeface="Times New Roman"/>
            </a:endParaRPr>
          </a:p>
          <a:p>
            <a:pPr marL="0" lvl="0" indent="0" algn="just" rtl="0">
              <a:spcBef>
                <a:spcPts val="800"/>
              </a:spcBef>
              <a:spcAft>
                <a:spcPts val="0"/>
              </a:spcAft>
              <a:buClr>
                <a:schemeClr val="dk1"/>
              </a:buClr>
              <a:buSzPts val="1100"/>
              <a:buFont typeface="Arial"/>
              <a:buNone/>
            </a:pPr>
            <a:r>
              <a:rPr lang="en" sz="1400" dirty="0">
                <a:solidFill>
                  <a:schemeClr val="dk1"/>
                </a:solidFill>
                <a:latin typeface="Times New Roman"/>
                <a:ea typeface="Times New Roman"/>
                <a:cs typeface="Times New Roman"/>
                <a:sym typeface="Times New Roman"/>
              </a:rPr>
              <a:t>Micro Vickers Hardness is an alternate hardness testing method developed to test the hardness of materials. This is an easier method than other hardness tests as the calculations do not depend on the indenter as the indenter can be used for all materials irrespective of hardness.The best hardness sample we got from the tests are the borosilicate 90 wt % and alumina 10 wt% which is 150 HV more than the base.</a:t>
            </a:r>
            <a:endParaRPr sz="1400" dirty="0">
              <a:solidFill>
                <a:schemeClr val="dk1"/>
              </a:solidFill>
              <a:latin typeface="Times New Roman"/>
              <a:ea typeface="Times New Roman"/>
              <a:cs typeface="Times New Roman"/>
              <a:sym typeface="Times New Roman"/>
            </a:endParaRPr>
          </a:p>
          <a:p>
            <a:pPr marL="0" marR="1332230" lvl="0" indent="0" algn="l" rtl="0">
              <a:lnSpc>
                <a:spcPct val="107916"/>
              </a:lnSpc>
              <a:spcBef>
                <a:spcPts val="800"/>
              </a:spcBef>
              <a:spcAft>
                <a:spcPts val="0"/>
              </a:spcAft>
              <a:buClr>
                <a:schemeClr val="dk1"/>
              </a:buClr>
              <a:buSzPts val="1100"/>
              <a:buFont typeface="Arial"/>
              <a:buNone/>
            </a:pPr>
            <a:endParaRPr sz="1500" b="1" dirty="0">
              <a:solidFill>
                <a:schemeClr val="dk1"/>
              </a:solidFill>
              <a:latin typeface="Times New Roman"/>
              <a:ea typeface="Times New Roman"/>
              <a:cs typeface="Times New Roman"/>
              <a:sym typeface="Times New Roman"/>
            </a:endParaRPr>
          </a:p>
          <a:p>
            <a:pPr marL="0" lvl="0" indent="0" algn="just" rtl="0">
              <a:spcBef>
                <a:spcPts val="800"/>
              </a:spcBef>
              <a:spcAft>
                <a:spcPts val="0"/>
              </a:spcAft>
              <a:buClr>
                <a:schemeClr val="dk1"/>
              </a:buClr>
              <a:buSzPts val="1100"/>
              <a:buFont typeface="Arial"/>
              <a:buNone/>
            </a:pPr>
            <a:endParaRPr sz="1500" dirty="0"/>
          </a:p>
          <a:p>
            <a:pPr marL="0" lvl="0" indent="0" algn="ctr" rtl="0">
              <a:spcBef>
                <a:spcPts val="1080"/>
              </a:spcBef>
              <a:spcAft>
                <a:spcPts val="0"/>
              </a:spcAft>
              <a:buClr>
                <a:schemeClr val="dk1"/>
              </a:buClr>
              <a:buSzPts val="1400"/>
              <a:buFont typeface="Arial"/>
              <a:buNone/>
            </a:pPr>
            <a:endParaRPr sz="1500" b="1" dirty="0">
              <a:solidFill>
                <a:schemeClr val="dk1"/>
              </a:solidFill>
              <a:latin typeface="Times New Roman"/>
              <a:ea typeface="Times New Roman"/>
              <a:cs typeface="Times New Roman"/>
              <a:sym typeface="Times New Roman"/>
            </a:endParaRPr>
          </a:p>
        </p:txBody>
      </p:sp>
      <p:pic>
        <p:nvPicPr>
          <p:cNvPr id="2" name="Picture 1">
            <a:extLst>
              <a:ext uri="{FF2B5EF4-FFF2-40B4-BE49-F238E27FC236}">
                <a16:creationId xmlns:a16="http://schemas.microsoft.com/office/drawing/2014/main" id="{905F92C0-C84A-2DC9-F21F-883B5386444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17392" y="1490103"/>
            <a:ext cx="3698008" cy="228179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1"/>
          <p:cNvSpPr txBox="1">
            <a:spLocks noGrp="1"/>
          </p:cNvSpPr>
          <p:nvPr>
            <p:ph type="ctrTitle"/>
          </p:nvPr>
        </p:nvSpPr>
        <p:spPr>
          <a:xfrm>
            <a:off x="1524000" y="89075"/>
            <a:ext cx="7391400" cy="800100"/>
          </a:xfrm>
          <a:prstGeom prst="rect">
            <a:avLst/>
          </a:prstGeom>
          <a:solidFill>
            <a:srgbClr val="009900"/>
          </a:solidFill>
          <a:ln>
            <a:noFill/>
          </a:ln>
          <a:effectLst>
            <a:outerShdw blurRad="40000" dist="20000" dir="5400000" rotWithShape="0">
              <a:srgbClr val="000000">
                <a:alpha val="3765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RESULTS AND DISCUSSIONS</a:t>
            </a:r>
            <a:endParaRPr/>
          </a:p>
        </p:txBody>
      </p:sp>
      <p:sp>
        <p:nvSpPr>
          <p:cNvPr id="276" name="Google Shape;276;p41"/>
          <p:cNvSpPr txBox="1">
            <a:spLocks noGrp="1"/>
          </p:cNvSpPr>
          <p:nvPr>
            <p:ph type="subTitle" idx="1"/>
          </p:nvPr>
        </p:nvSpPr>
        <p:spPr>
          <a:xfrm>
            <a:off x="457200" y="1016075"/>
            <a:ext cx="8458200" cy="35433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spcBef>
                <a:spcPts val="800"/>
              </a:spcBef>
              <a:spcAft>
                <a:spcPts val="0"/>
              </a:spcAft>
              <a:buClr>
                <a:schemeClr val="dk1"/>
              </a:buClr>
              <a:buSzPts val="1100"/>
              <a:buFont typeface="Arial"/>
              <a:buNone/>
            </a:pPr>
            <a:endParaRPr sz="1500" dirty="0"/>
          </a:p>
          <a:p>
            <a:pPr marL="0" lvl="0" indent="0" algn="ctr" rtl="0">
              <a:spcBef>
                <a:spcPts val="1080"/>
              </a:spcBef>
              <a:spcAft>
                <a:spcPts val="0"/>
              </a:spcAft>
              <a:buClr>
                <a:schemeClr val="dk1"/>
              </a:buClr>
              <a:buSzPts val="1400"/>
              <a:buFont typeface="Arial"/>
              <a:buNone/>
            </a:pPr>
            <a:endParaRPr sz="1500" b="1" dirty="0">
              <a:solidFill>
                <a:schemeClr val="dk1"/>
              </a:solidFill>
              <a:latin typeface="Times New Roman"/>
              <a:ea typeface="Times New Roman"/>
              <a:cs typeface="Times New Roman"/>
              <a:sym typeface="Times New Roman"/>
            </a:endParaRPr>
          </a:p>
        </p:txBody>
      </p:sp>
      <p:graphicFrame>
        <p:nvGraphicFramePr>
          <p:cNvPr id="3" name="Table 2">
            <a:extLst>
              <a:ext uri="{FF2B5EF4-FFF2-40B4-BE49-F238E27FC236}">
                <a16:creationId xmlns:a16="http://schemas.microsoft.com/office/drawing/2014/main" id="{E79EBE75-72BA-7AD4-56D3-00EB563A6883}"/>
              </a:ext>
            </a:extLst>
          </p:cNvPr>
          <p:cNvGraphicFramePr>
            <a:graphicFrameLocks noGrp="1"/>
          </p:cNvGraphicFramePr>
          <p:nvPr>
            <p:extLst>
              <p:ext uri="{D42A27DB-BD31-4B8C-83A1-F6EECF244321}">
                <p14:modId xmlns:p14="http://schemas.microsoft.com/office/powerpoint/2010/main" val="2169120208"/>
              </p:ext>
            </p:extLst>
          </p:nvPr>
        </p:nvGraphicFramePr>
        <p:xfrm>
          <a:off x="571500" y="1379853"/>
          <a:ext cx="8229600" cy="2647188"/>
        </p:xfrm>
        <a:graphic>
          <a:graphicData uri="http://schemas.openxmlformats.org/drawingml/2006/table">
            <a:tbl>
              <a:tblPr firstRow="1" firstCol="1" bandRow="1">
                <a:tableStyleId>{3C2FFA5D-87B4-456A-9821-1D502468CF0F}</a:tableStyleId>
              </a:tblPr>
              <a:tblGrid>
                <a:gridCol w="2743200">
                  <a:extLst>
                    <a:ext uri="{9D8B030D-6E8A-4147-A177-3AD203B41FA5}">
                      <a16:colId xmlns:a16="http://schemas.microsoft.com/office/drawing/2014/main" val="3780977939"/>
                    </a:ext>
                  </a:extLst>
                </a:gridCol>
                <a:gridCol w="2743200">
                  <a:extLst>
                    <a:ext uri="{9D8B030D-6E8A-4147-A177-3AD203B41FA5}">
                      <a16:colId xmlns:a16="http://schemas.microsoft.com/office/drawing/2014/main" val="584861402"/>
                    </a:ext>
                  </a:extLst>
                </a:gridCol>
                <a:gridCol w="2743200">
                  <a:extLst>
                    <a:ext uri="{9D8B030D-6E8A-4147-A177-3AD203B41FA5}">
                      <a16:colId xmlns:a16="http://schemas.microsoft.com/office/drawing/2014/main" val="2010810482"/>
                    </a:ext>
                  </a:extLst>
                </a:gridCol>
              </a:tblGrid>
              <a:tr h="0">
                <a:tc>
                  <a:txBody>
                    <a:bodyPr/>
                    <a:lstStyle/>
                    <a:p>
                      <a:pPr algn="ctr">
                        <a:lnSpc>
                          <a:spcPct val="107000"/>
                        </a:lnSpc>
                        <a:spcAft>
                          <a:spcPts val="800"/>
                        </a:spcAft>
                      </a:pPr>
                      <a:r>
                        <a:rPr lang="en-IN" sz="1100">
                          <a:effectLst/>
                        </a:rPr>
                        <a:t>Sample ID</a:t>
                      </a:r>
                      <a:endParaRPr lang="en-IN" sz="11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Hardness Value(HV0.3)</a:t>
                      </a:r>
                      <a:endParaRPr lang="en-IN" sz="11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Avg. Hardness Value (HV)</a:t>
                      </a:r>
                      <a:endParaRPr lang="en-IN" sz="1100">
                        <a:effectLst/>
                        <a:latin typeface="Times New Roman" panose="02020603050405020304" pitchFamily="18" charset="0"/>
                        <a:ea typeface="Times New Roman" panose="02020603050405020304" pitchFamily="18" charset="0"/>
                      </a:endParaRPr>
                    </a:p>
                  </a:txBody>
                  <a:tcPr marL="63500" marR="63500" marT="63500" marB="63500"/>
                </a:tc>
                <a:extLst>
                  <a:ext uri="{0D108BD9-81ED-4DB2-BD59-A6C34878D82A}">
                    <a16:rowId xmlns:a16="http://schemas.microsoft.com/office/drawing/2014/main" val="1826081633"/>
                  </a:ext>
                </a:extLst>
              </a:tr>
              <a:tr h="0">
                <a:tc>
                  <a:txBody>
                    <a:bodyPr/>
                    <a:lstStyle/>
                    <a:p>
                      <a:pPr algn="ctr">
                        <a:lnSpc>
                          <a:spcPct val="107000"/>
                        </a:lnSpc>
                        <a:spcAft>
                          <a:spcPts val="800"/>
                        </a:spcAft>
                      </a:pPr>
                      <a:r>
                        <a:rPr lang="en-IN" sz="1100">
                          <a:effectLst/>
                        </a:rPr>
                        <a:t>BS 100%</a:t>
                      </a:r>
                      <a:endParaRPr lang="en-IN" sz="11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(548, 554, 544) HV0.6 </a:t>
                      </a:r>
                      <a:endParaRPr lang="en-IN" sz="11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548.66</a:t>
                      </a:r>
                      <a:endParaRPr lang="en-IN" sz="1100">
                        <a:effectLst/>
                        <a:latin typeface="Times New Roman" panose="02020603050405020304" pitchFamily="18" charset="0"/>
                        <a:ea typeface="Times New Roman" panose="02020603050405020304" pitchFamily="18" charset="0"/>
                      </a:endParaRPr>
                    </a:p>
                  </a:txBody>
                  <a:tcPr marL="63500" marR="63500" marT="63500" marB="63500"/>
                </a:tc>
                <a:extLst>
                  <a:ext uri="{0D108BD9-81ED-4DB2-BD59-A6C34878D82A}">
                    <a16:rowId xmlns:a16="http://schemas.microsoft.com/office/drawing/2014/main" val="2199048573"/>
                  </a:ext>
                </a:extLst>
              </a:tr>
              <a:tr h="0">
                <a:tc>
                  <a:txBody>
                    <a:bodyPr/>
                    <a:lstStyle/>
                    <a:p>
                      <a:pPr algn="ctr">
                        <a:lnSpc>
                          <a:spcPct val="107000"/>
                        </a:lnSpc>
                        <a:spcAft>
                          <a:spcPts val="800"/>
                        </a:spcAft>
                      </a:pPr>
                      <a:r>
                        <a:rPr lang="en-IN" sz="1100">
                          <a:effectLst/>
                        </a:rPr>
                        <a:t>BS 90% + Al</a:t>
                      </a:r>
                      <a:r>
                        <a:rPr lang="en-IN" sz="650" baseline="-25000">
                          <a:effectLst/>
                        </a:rPr>
                        <a:t>2</a:t>
                      </a:r>
                      <a:r>
                        <a:rPr lang="en-IN" sz="1100">
                          <a:effectLst/>
                        </a:rPr>
                        <a:t>O</a:t>
                      </a:r>
                      <a:r>
                        <a:rPr lang="en-IN" sz="650" baseline="-25000">
                          <a:effectLst/>
                        </a:rPr>
                        <a:t>3</a:t>
                      </a:r>
                      <a:r>
                        <a:rPr lang="en-IN" sz="1100">
                          <a:effectLst/>
                        </a:rPr>
                        <a:t> 10%</a:t>
                      </a:r>
                      <a:endParaRPr lang="en-IN" sz="11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(691, 705, 700) HV0.3</a:t>
                      </a:r>
                      <a:endParaRPr lang="en-IN" sz="11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698.66</a:t>
                      </a:r>
                      <a:endParaRPr lang="en-IN" sz="1100">
                        <a:effectLst/>
                        <a:latin typeface="Times New Roman" panose="02020603050405020304" pitchFamily="18" charset="0"/>
                        <a:ea typeface="Times New Roman" panose="02020603050405020304" pitchFamily="18" charset="0"/>
                      </a:endParaRPr>
                    </a:p>
                  </a:txBody>
                  <a:tcPr marL="63500" marR="63500" marT="63500" marB="63500"/>
                </a:tc>
                <a:extLst>
                  <a:ext uri="{0D108BD9-81ED-4DB2-BD59-A6C34878D82A}">
                    <a16:rowId xmlns:a16="http://schemas.microsoft.com/office/drawing/2014/main" val="1871116970"/>
                  </a:ext>
                </a:extLst>
              </a:tr>
              <a:tr h="0">
                <a:tc>
                  <a:txBody>
                    <a:bodyPr/>
                    <a:lstStyle/>
                    <a:p>
                      <a:pPr algn="ctr">
                        <a:lnSpc>
                          <a:spcPct val="107000"/>
                        </a:lnSpc>
                        <a:spcAft>
                          <a:spcPts val="800"/>
                        </a:spcAft>
                      </a:pPr>
                      <a:r>
                        <a:rPr lang="en-IN" sz="1100">
                          <a:effectLst/>
                        </a:rPr>
                        <a:t>BS 80% + Al</a:t>
                      </a:r>
                      <a:r>
                        <a:rPr lang="en-IN" sz="650" baseline="-25000">
                          <a:effectLst/>
                        </a:rPr>
                        <a:t>2</a:t>
                      </a:r>
                      <a:r>
                        <a:rPr lang="en-IN" sz="1100">
                          <a:effectLst/>
                        </a:rPr>
                        <a:t>O</a:t>
                      </a:r>
                      <a:r>
                        <a:rPr lang="en-IN" sz="650" baseline="-25000">
                          <a:effectLst/>
                        </a:rPr>
                        <a:t>3</a:t>
                      </a:r>
                      <a:r>
                        <a:rPr lang="en-IN" sz="1100">
                          <a:effectLst/>
                        </a:rPr>
                        <a:t> 20%</a:t>
                      </a:r>
                      <a:endParaRPr lang="en-IN" sz="11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(537, 459, 511) HV0.7</a:t>
                      </a:r>
                      <a:endParaRPr lang="en-IN" sz="11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502.33</a:t>
                      </a:r>
                      <a:endParaRPr lang="en-IN" sz="1100">
                        <a:effectLst/>
                        <a:latin typeface="Times New Roman" panose="02020603050405020304" pitchFamily="18" charset="0"/>
                        <a:ea typeface="Times New Roman" panose="02020603050405020304" pitchFamily="18" charset="0"/>
                      </a:endParaRPr>
                    </a:p>
                  </a:txBody>
                  <a:tcPr marL="63500" marR="63500" marT="63500" marB="63500"/>
                </a:tc>
                <a:extLst>
                  <a:ext uri="{0D108BD9-81ED-4DB2-BD59-A6C34878D82A}">
                    <a16:rowId xmlns:a16="http://schemas.microsoft.com/office/drawing/2014/main" val="3049219208"/>
                  </a:ext>
                </a:extLst>
              </a:tr>
              <a:tr h="0">
                <a:tc>
                  <a:txBody>
                    <a:bodyPr/>
                    <a:lstStyle/>
                    <a:p>
                      <a:pPr algn="ctr">
                        <a:lnSpc>
                          <a:spcPct val="107000"/>
                        </a:lnSpc>
                        <a:spcAft>
                          <a:spcPts val="800"/>
                        </a:spcAft>
                      </a:pPr>
                      <a:r>
                        <a:rPr lang="en-IN" sz="1100">
                          <a:effectLst/>
                        </a:rPr>
                        <a:t>BS 70% + Al</a:t>
                      </a:r>
                      <a:r>
                        <a:rPr lang="en-IN" sz="650" baseline="-25000">
                          <a:effectLst/>
                        </a:rPr>
                        <a:t>2</a:t>
                      </a:r>
                      <a:r>
                        <a:rPr lang="en-IN" sz="1100">
                          <a:effectLst/>
                        </a:rPr>
                        <a:t>O</a:t>
                      </a:r>
                      <a:r>
                        <a:rPr lang="en-IN" sz="650" baseline="-25000">
                          <a:effectLst/>
                        </a:rPr>
                        <a:t>3</a:t>
                      </a:r>
                      <a:r>
                        <a:rPr lang="en-IN" sz="1100">
                          <a:effectLst/>
                        </a:rPr>
                        <a:t> 30%</a:t>
                      </a:r>
                      <a:endParaRPr lang="en-IN" sz="11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(346, 313, 335) HV0.8</a:t>
                      </a:r>
                      <a:endParaRPr lang="en-IN" sz="11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331.33</a:t>
                      </a:r>
                      <a:endParaRPr lang="en-IN" sz="1100">
                        <a:effectLst/>
                        <a:latin typeface="Times New Roman" panose="02020603050405020304" pitchFamily="18" charset="0"/>
                        <a:ea typeface="Times New Roman" panose="02020603050405020304" pitchFamily="18" charset="0"/>
                      </a:endParaRPr>
                    </a:p>
                  </a:txBody>
                  <a:tcPr marL="63500" marR="63500" marT="63500" marB="63500"/>
                </a:tc>
                <a:extLst>
                  <a:ext uri="{0D108BD9-81ED-4DB2-BD59-A6C34878D82A}">
                    <a16:rowId xmlns:a16="http://schemas.microsoft.com/office/drawing/2014/main" val="1926273103"/>
                  </a:ext>
                </a:extLst>
              </a:tr>
              <a:tr h="0">
                <a:tc>
                  <a:txBody>
                    <a:bodyPr/>
                    <a:lstStyle/>
                    <a:p>
                      <a:pPr algn="ctr">
                        <a:lnSpc>
                          <a:spcPct val="107000"/>
                        </a:lnSpc>
                        <a:spcAft>
                          <a:spcPts val="800"/>
                        </a:spcAft>
                      </a:pPr>
                      <a:r>
                        <a:rPr lang="en-IN" sz="1100" dirty="0">
                          <a:effectLst/>
                        </a:rPr>
                        <a:t>BS 90% + </a:t>
                      </a:r>
                      <a:r>
                        <a:rPr lang="en-IN" sz="1100" dirty="0" err="1">
                          <a:effectLst/>
                        </a:rPr>
                        <a:t>CuO</a:t>
                      </a:r>
                      <a:r>
                        <a:rPr lang="en-IN" sz="1100" dirty="0">
                          <a:effectLst/>
                        </a:rPr>
                        <a:t> 10%</a:t>
                      </a:r>
                      <a:endParaRPr lang="en-IN" sz="1100" dirty="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dirty="0">
                          <a:effectLst/>
                        </a:rPr>
                        <a:t>(389, 418, 436) HV0.4</a:t>
                      </a:r>
                      <a:endParaRPr lang="en-IN" sz="1100" dirty="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414.33</a:t>
                      </a:r>
                      <a:endParaRPr lang="en-IN" sz="1100">
                        <a:effectLst/>
                        <a:latin typeface="Times New Roman" panose="02020603050405020304" pitchFamily="18" charset="0"/>
                        <a:ea typeface="Times New Roman" panose="02020603050405020304" pitchFamily="18" charset="0"/>
                      </a:endParaRPr>
                    </a:p>
                  </a:txBody>
                  <a:tcPr marL="63500" marR="63500" marT="63500" marB="63500"/>
                </a:tc>
                <a:extLst>
                  <a:ext uri="{0D108BD9-81ED-4DB2-BD59-A6C34878D82A}">
                    <a16:rowId xmlns:a16="http://schemas.microsoft.com/office/drawing/2014/main" val="2271680801"/>
                  </a:ext>
                </a:extLst>
              </a:tr>
              <a:tr h="0">
                <a:tc>
                  <a:txBody>
                    <a:bodyPr/>
                    <a:lstStyle/>
                    <a:p>
                      <a:pPr algn="ctr">
                        <a:lnSpc>
                          <a:spcPct val="107000"/>
                        </a:lnSpc>
                        <a:spcAft>
                          <a:spcPts val="800"/>
                        </a:spcAft>
                      </a:pPr>
                      <a:r>
                        <a:rPr lang="en-IN" sz="1100" dirty="0">
                          <a:effectLst/>
                        </a:rPr>
                        <a:t>BS 80% + </a:t>
                      </a:r>
                      <a:r>
                        <a:rPr lang="en-IN" sz="1100" dirty="0" err="1">
                          <a:effectLst/>
                        </a:rPr>
                        <a:t>CuO</a:t>
                      </a:r>
                      <a:r>
                        <a:rPr lang="en-IN" sz="1100" dirty="0">
                          <a:effectLst/>
                        </a:rPr>
                        <a:t> 20%</a:t>
                      </a:r>
                      <a:endParaRPr lang="en-IN" sz="1100" dirty="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(518, 477, 498) HV0.10</a:t>
                      </a:r>
                      <a:endParaRPr lang="en-IN" sz="11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497.66</a:t>
                      </a:r>
                      <a:endParaRPr lang="en-IN" sz="1100">
                        <a:effectLst/>
                        <a:latin typeface="Times New Roman" panose="02020603050405020304" pitchFamily="18" charset="0"/>
                        <a:ea typeface="Times New Roman" panose="02020603050405020304" pitchFamily="18" charset="0"/>
                      </a:endParaRPr>
                    </a:p>
                  </a:txBody>
                  <a:tcPr marL="63500" marR="63500" marT="63500" marB="63500"/>
                </a:tc>
                <a:extLst>
                  <a:ext uri="{0D108BD9-81ED-4DB2-BD59-A6C34878D82A}">
                    <a16:rowId xmlns:a16="http://schemas.microsoft.com/office/drawing/2014/main" val="4030196748"/>
                  </a:ext>
                </a:extLst>
              </a:tr>
              <a:tr h="0">
                <a:tc>
                  <a:txBody>
                    <a:bodyPr/>
                    <a:lstStyle/>
                    <a:p>
                      <a:pPr algn="ctr">
                        <a:lnSpc>
                          <a:spcPct val="107000"/>
                        </a:lnSpc>
                        <a:spcAft>
                          <a:spcPts val="800"/>
                        </a:spcAft>
                      </a:pPr>
                      <a:r>
                        <a:rPr lang="en-IN" sz="1100" dirty="0">
                          <a:effectLst/>
                        </a:rPr>
                        <a:t>BS 70% + </a:t>
                      </a:r>
                      <a:r>
                        <a:rPr lang="en-IN" sz="1100" dirty="0" err="1">
                          <a:effectLst/>
                        </a:rPr>
                        <a:t>CuO</a:t>
                      </a:r>
                      <a:r>
                        <a:rPr lang="en-IN" sz="1100" dirty="0">
                          <a:effectLst/>
                        </a:rPr>
                        <a:t> 30%</a:t>
                      </a:r>
                      <a:endParaRPr lang="en-IN" sz="1100" dirty="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(556, 589, 563)  HV0.9</a:t>
                      </a:r>
                      <a:endParaRPr lang="en-IN" sz="11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569.33</a:t>
                      </a:r>
                      <a:endParaRPr lang="en-IN" sz="1100">
                        <a:effectLst/>
                        <a:latin typeface="Times New Roman" panose="02020603050405020304" pitchFamily="18" charset="0"/>
                        <a:ea typeface="Times New Roman" panose="02020603050405020304" pitchFamily="18" charset="0"/>
                      </a:endParaRPr>
                    </a:p>
                  </a:txBody>
                  <a:tcPr marL="63500" marR="63500" marT="63500" marB="63500"/>
                </a:tc>
                <a:extLst>
                  <a:ext uri="{0D108BD9-81ED-4DB2-BD59-A6C34878D82A}">
                    <a16:rowId xmlns:a16="http://schemas.microsoft.com/office/drawing/2014/main" val="993293797"/>
                  </a:ext>
                </a:extLst>
              </a:tr>
              <a:tr h="0">
                <a:tc>
                  <a:txBody>
                    <a:bodyPr/>
                    <a:lstStyle/>
                    <a:p>
                      <a:pPr algn="ctr">
                        <a:lnSpc>
                          <a:spcPct val="107000"/>
                        </a:lnSpc>
                        <a:spcAft>
                          <a:spcPts val="800"/>
                        </a:spcAft>
                      </a:pPr>
                      <a:r>
                        <a:rPr lang="en-IN" sz="1100" dirty="0">
                          <a:effectLst/>
                        </a:rPr>
                        <a:t>BS 80% + Al</a:t>
                      </a:r>
                      <a:r>
                        <a:rPr lang="en-IN" sz="650" baseline="-25000" dirty="0">
                          <a:effectLst/>
                        </a:rPr>
                        <a:t>2</a:t>
                      </a:r>
                      <a:r>
                        <a:rPr lang="en-IN" sz="1100" dirty="0">
                          <a:effectLst/>
                        </a:rPr>
                        <a:t>O</a:t>
                      </a:r>
                      <a:r>
                        <a:rPr lang="en-IN" sz="650" baseline="-25000" dirty="0">
                          <a:effectLst/>
                        </a:rPr>
                        <a:t>3</a:t>
                      </a:r>
                      <a:r>
                        <a:rPr lang="en-IN" sz="1100" dirty="0">
                          <a:effectLst/>
                        </a:rPr>
                        <a:t> 10% + </a:t>
                      </a:r>
                      <a:r>
                        <a:rPr lang="en-IN" sz="1100" dirty="0" err="1">
                          <a:effectLst/>
                        </a:rPr>
                        <a:t>CuO</a:t>
                      </a:r>
                      <a:r>
                        <a:rPr lang="en-IN" sz="1100" dirty="0">
                          <a:effectLst/>
                        </a:rPr>
                        <a:t> 10%</a:t>
                      </a:r>
                      <a:endParaRPr lang="en-IN" sz="1100" dirty="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a:effectLst/>
                        </a:rPr>
                        <a:t>(580, 619, 588) HV0.5</a:t>
                      </a:r>
                      <a:endParaRPr lang="en-IN" sz="1100">
                        <a:effectLst/>
                        <a:latin typeface="Times New Roman" panose="02020603050405020304" pitchFamily="18" charset="0"/>
                        <a:ea typeface="Times New Roman" panose="02020603050405020304" pitchFamily="18" charset="0"/>
                      </a:endParaRPr>
                    </a:p>
                  </a:txBody>
                  <a:tcPr marL="63500" marR="63500" marT="63500" marB="63500"/>
                </a:tc>
                <a:tc>
                  <a:txBody>
                    <a:bodyPr/>
                    <a:lstStyle/>
                    <a:p>
                      <a:pPr algn="ctr">
                        <a:lnSpc>
                          <a:spcPct val="107000"/>
                        </a:lnSpc>
                        <a:spcAft>
                          <a:spcPts val="800"/>
                        </a:spcAft>
                      </a:pPr>
                      <a:r>
                        <a:rPr lang="en-IN" sz="1100" dirty="0">
                          <a:effectLst/>
                        </a:rPr>
                        <a:t>595.66</a:t>
                      </a:r>
                      <a:endParaRPr lang="en-IN" sz="1100" dirty="0">
                        <a:effectLst/>
                        <a:latin typeface="Times New Roman" panose="02020603050405020304" pitchFamily="18" charset="0"/>
                        <a:ea typeface="Times New Roman" panose="02020603050405020304" pitchFamily="18" charset="0"/>
                      </a:endParaRPr>
                    </a:p>
                  </a:txBody>
                  <a:tcPr marL="63500" marR="63500" marT="63500" marB="63500"/>
                </a:tc>
                <a:extLst>
                  <a:ext uri="{0D108BD9-81ED-4DB2-BD59-A6C34878D82A}">
                    <a16:rowId xmlns:a16="http://schemas.microsoft.com/office/drawing/2014/main" val="2431466492"/>
                  </a:ext>
                </a:extLst>
              </a:tr>
            </a:tbl>
          </a:graphicData>
        </a:graphic>
      </p:graphicFrame>
    </p:spTree>
    <p:extLst>
      <p:ext uri="{BB962C8B-B14F-4D97-AF65-F5344CB8AC3E}">
        <p14:creationId xmlns:p14="http://schemas.microsoft.com/office/powerpoint/2010/main" val="4227121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1"/>
          <p:cNvSpPr txBox="1">
            <a:spLocks noGrp="1"/>
          </p:cNvSpPr>
          <p:nvPr>
            <p:ph type="ctrTitle"/>
          </p:nvPr>
        </p:nvSpPr>
        <p:spPr>
          <a:xfrm>
            <a:off x="1524000" y="89075"/>
            <a:ext cx="7391400" cy="800100"/>
          </a:xfrm>
          <a:prstGeom prst="rect">
            <a:avLst/>
          </a:prstGeom>
          <a:solidFill>
            <a:srgbClr val="009900"/>
          </a:solidFill>
          <a:ln>
            <a:noFill/>
          </a:ln>
          <a:effectLst>
            <a:outerShdw blurRad="40000" dist="20000" dir="5400000" rotWithShape="0">
              <a:srgbClr val="000000">
                <a:alpha val="3765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RESULTS AND DISCUSSIONS</a:t>
            </a:r>
            <a:endParaRPr/>
          </a:p>
        </p:txBody>
      </p:sp>
      <p:sp>
        <p:nvSpPr>
          <p:cNvPr id="276" name="Google Shape;276;p41"/>
          <p:cNvSpPr txBox="1">
            <a:spLocks noGrp="1"/>
          </p:cNvSpPr>
          <p:nvPr>
            <p:ph type="subTitle" idx="1"/>
          </p:nvPr>
        </p:nvSpPr>
        <p:spPr>
          <a:xfrm>
            <a:off x="457200" y="1016075"/>
            <a:ext cx="8458200" cy="35433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spcBef>
                <a:spcPts val="800"/>
              </a:spcBef>
              <a:spcAft>
                <a:spcPts val="0"/>
              </a:spcAft>
              <a:buClr>
                <a:schemeClr val="dk1"/>
              </a:buClr>
              <a:buSzPts val="1100"/>
              <a:buFont typeface="Arial"/>
              <a:buNone/>
            </a:pPr>
            <a:r>
              <a:rPr lang="en-US" sz="1600" b="1" dirty="0">
                <a:solidFill>
                  <a:schemeClr val="tx1"/>
                </a:solidFill>
                <a:latin typeface="Times New Roman" panose="02020603050405020304" pitchFamily="18" charset="0"/>
                <a:cs typeface="Times New Roman" panose="02020603050405020304" pitchFamily="18" charset="0"/>
              </a:rPr>
              <a:t>Structural Analysis Through Optical Microscope:                                        </a:t>
            </a:r>
          </a:p>
          <a:p>
            <a:pPr marL="0" lvl="0" indent="0" algn="l" rtl="0">
              <a:spcBef>
                <a:spcPts val="800"/>
              </a:spcBef>
              <a:spcAft>
                <a:spcPts val="0"/>
              </a:spcAft>
              <a:buClr>
                <a:schemeClr val="dk1"/>
              </a:buClr>
              <a:buSzPts val="1100"/>
              <a:buFont typeface="Arial"/>
              <a:buNone/>
            </a:pPr>
            <a:r>
              <a:rPr lang="en-US" sz="1200" dirty="0">
                <a:solidFill>
                  <a:schemeClr val="tx1"/>
                </a:solidFill>
                <a:latin typeface="Times New Roman" panose="02020603050405020304" pitchFamily="18" charset="0"/>
                <a:cs typeface="Times New Roman" panose="02020603050405020304" pitchFamily="18" charset="0"/>
              </a:rPr>
              <a:t>The above images depict the Structure of the composite materials at 200x magnification done by using an Optical Microscope. This observation helps in the classification of the composites and also helps determine the surface structure of the composite material. By observing through the optical microscope, we can determine various surface features of the material and also check for defects  on the surface.</a:t>
            </a:r>
          </a:p>
          <a:p>
            <a:pPr marL="0" lvl="0" indent="0" algn="l" rtl="0">
              <a:spcBef>
                <a:spcPts val="800"/>
              </a:spcBef>
              <a:spcAft>
                <a:spcPts val="0"/>
              </a:spcAft>
              <a:buClr>
                <a:schemeClr val="dk1"/>
              </a:buClr>
              <a:buSzPts val="1100"/>
              <a:buFont typeface="Arial"/>
              <a:buNone/>
            </a:pPr>
            <a:endParaRPr lang="en-US" sz="1200" b="1" dirty="0">
              <a:solidFill>
                <a:schemeClr val="tx1"/>
              </a:solidFill>
              <a:latin typeface="Times New Roman" panose="02020603050405020304" pitchFamily="18" charset="0"/>
              <a:ea typeface="Times New Roman"/>
              <a:cs typeface="Times New Roman" panose="02020603050405020304" pitchFamily="18" charset="0"/>
              <a:sym typeface="Times New Roman"/>
            </a:endParaRPr>
          </a:p>
          <a:p>
            <a:pPr marL="0" lvl="0" indent="0" algn="l" rtl="0">
              <a:spcBef>
                <a:spcPts val="800"/>
              </a:spcBef>
              <a:spcAft>
                <a:spcPts val="0"/>
              </a:spcAft>
              <a:buClr>
                <a:schemeClr val="dk1"/>
              </a:buClr>
              <a:buSzPts val="1100"/>
              <a:buFont typeface="Arial"/>
              <a:buNone/>
            </a:pPr>
            <a:r>
              <a:rPr lang="en-US" sz="1500" b="1" dirty="0">
                <a:solidFill>
                  <a:schemeClr val="dk1"/>
                </a:solidFill>
                <a:latin typeface="Times New Roman"/>
                <a:ea typeface="Times New Roman"/>
                <a:cs typeface="Times New Roman"/>
                <a:sym typeface="Times New Roman"/>
              </a:rPr>
              <a:t>      </a:t>
            </a:r>
            <a:r>
              <a:rPr lang="en-US" sz="1200" dirty="0">
                <a:solidFill>
                  <a:schemeClr val="dk1"/>
                </a:solidFill>
                <a:latin typeface="Times New Roman"/>
                <a:ea typeface="Times New Roman"/>
                <a:cs typeface="Times New Roman"/>
                <a:sym typeface="Times New Roman"/>
              </a:rPr>
              <a:t>Borosilicate(100%)                         </a:t>
            </a:r>
            <a:r>
              <a:rPr lang="en-US" sz="1200" dirty="0">
                <a:solidFill>
                  <a:schemeClr val="tx1"/>
                </a:solidFill>
                <a:latin typeface="Times New Roman" panose="02020603050405020304" pitchFamily="18" charset="0"/>
                <a:cs typeface="Times New Roman" panose="02020603050405020304" pitchFamily="18" charset="0"/>
              </a:rPr>
              <a:t>BS(80%) + Al (20%)                   BS(80%) + Cu2o(20%)         BS(80%)+Al(10%)+Cu2o(10%) </a:t>
            </a:r>
            <a:endParaRPr lang="en-US" sz="1200" dirty="0">
              <a:solidFill>
                <a:schemeClr val="dk1"/>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7DA4ABEE-8B23-E785-9EA1-890418FCAB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9834" y="2923169"/>
            <a:ext cx="1920106" cy="1440000"/>
          </a:xfrm>
          <a:prstGeom prst="rect">
            <a:avLst/>
          </a:prstGeom>
          <a:noFill/>
          <a:ln>
            <a:noFill/>
          </a:ln>
        </p:spPr>
      </p:pic>
      <p:pic>
        <p:nvPicPr>
          <p:cNvPr id="6" name="Picture 5">
            <a:extLst>
              <a:ext uri="{FF2B5EF4-FFF2-40B4-BE49-F238E27FC236}">
                <a16:creationId xmlns:a16="http://schemas.microsoft.com/office/drawing/2014/main" id="{272F6F20-2865-C96B-9ADA-C12B42AE831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32930" y="2923169"/>
            <a:ext cx="1920741" cy="1440000"/>
          </a:xfrm>
          <a:prstGeom prst="rect">
            <a:avLst/>
          </a:prstGeom>
          <a:noFill/>
          <a:ln>
            <a:noFill/>
          </a:ln>
        </p:spPr>
      </p:pic>
      <p:pic>
        <p:nvPicPr>
          <p:cNvPr id="7" name="Picture 6">
            <a:extLst>
              <a:ext uri="{FF2B5EF4-FFF2-40B4-BE49-F238E27FC236}">
                <a16:creationId xmlns:a16="http://schemas.microsoft.com/office/drawing/2014/main" id="{B738DB29-115E-9F17-8D62-D5B3378988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01817" y="2923169"/>
            <a:ext cx="1920106" cy="1440000"/>
          </a:xfrm>
          <a:prstGeom prst="rect">
            <a:avLst/>
          </a:prstGeom>
        </p:spPr>
      </p:pic>
      <p:pic>
        <p:nvPicPr>
          <p:cNvPr id="8" name="Picture 7">
            <a:extLst>
              <a:ext uri="{FF2B5EF4-FFF2-40B4-BE49-F238E27FC236}">
                <a16:creationId xmlns:a16="http://schemas.microsoft.com/office/drawing/2014/main" id="{F95FAFDA-E4FB-49E8-9037-CBD6CD337A8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70069" y="2923169"/>
            <a:ext cx="1920106" cy="1440000"/>
          </a:xfrm>
          <a:prstGeom prst="rect">
            <a:avLst/>
          </a:prstGeom>
        </p:spPr>
      </p:pic>
    </p:spTree>
    <p:extLst>
      <p:ext uri="{BB962C8B-B14F-4D97-AF65-F5344CB8AC3E}">
        <p14:creationId xmlns:p14="http://schemas.microsoft.com/office/powerpoint/2010/main" val="4055657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1"/>
          <p:cNvSpPr txBox="1">
            <a:spLocks noGrp="1"/>
          </p:cNvSpPr>
          <p:nvPr>
            <p:ph type="ctrTitle"/>
          </p:nvPr>
        </p:nvSpPr>
        <p:spPr>
          <a:xfrm>
            <a:off x="1524000" y="89075"/>
            <a:ext cx="7391400" cy="800100"/>
          </a:xfrm>
          <a:prstGeom prst="rect">
            <a:avLst/>
          </a:prstGeom>
          <a:solidFill>
            <a:srgbClr val="009900"/>
          </a:solidFill>
          <a:ln>
            <a:noFill/>
          </a:ln>
          <a:effectLst>
            <a:outerShdw blurRad="40000" dist="20000" dir="5400000" rotWithShape="0">
              <a:srgbClr val="000000">
                <a:alpha val="3765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RESULTS AND DISCUSSIONS</a:t>
            </a:r>
            <a:endParaRPr/>
          </a:p>
        </p:txBody>
      </p:sp>
      <p:sp>
        <p:nvSpPr>
          <p:cNvPr id="276" name="Google Shape;276;p41"/>
          <p:cNvSpPr txBox="1">
            <a:spLocks noGrp="1"/>
          </p:cNvSpPr>
          <p:nvPr>
            <p:ph type="subTitle" idx="1"/>
          </p:nvPr>
        </p:nvSpPr>
        <p:spPr>
          <a:xfrm>
            <a:off x="457200" y="1016075"/>
            <a:ext cx="8458200" cy="35433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spcBef>
                <a:spcPts val="800"/>
              </a:spcBef>
              <a:spcAft>
                <a:spcPts val="0"/>
              </a:spcAft>
              <a:buClr>
                <a:schemeClr val="dk1"/>
              </a:buClr>
              <a:buSzPts val="1100"/>
              <a:buFont typeface="Arial"/>
              <a:buNone/>
            </a:pPr>
            <a:r>
              <a:rPr lang="en-US" sz="1500" b="1" dirty="0">
                <a:solidFill>
                  <a:schemeClr val="tx1"/>
                </a:solidFill>
                <a:latin typeface="Times New Roman" panose="02020603050405020304" pitchFamily="18" charset="0"/>
                <a:cs typeface="Times New Roman" panose="02020603050405020304" pitchFamily="18" charset="0"/>
              </a:rPr>
              <a:t>SEM ANALYSIS :</a:t>
            </a:r>
          </a:p>
          <a:p>
            <a:pPr marL="0" lvl="0" indent="0" algn="just" rtl="0">
              <a:spcBef>
                <a:spcPts val="800"/>
              </a:spcBef>
              <a:spcAft>
                <a:spcPts val="0"/>
              </a:spcAft>
              <a:buClr>
                <a:schemeClr val="dk1"/>
              </a:buClr>
              <a:buSzPts val="1100"/>
              <a:buFont typeface="Arial"/>
              <a:buNone/>
            </a:pPr>
            <a:endParaRPr lang="en-US" sz="1500" b="1" dirty="0">
              <a:solidFill>
                <a:schemeClr val="tx1"/>
              </a:solidFill>
              <a:latin typeface="Times New Roman" panose="02020603050405020304" pitchFamily="18" charset="0"/>
              <a:cs typeface="Times New Roman" panose="02020603050405020304" pitchFamily="18" charset="0"/>
            </a:endParaRPr>
          </a:p>
          <a:p>
            <a:pPr marL="0" lvl="0" indent="0" algn="just" rtl="0">
              <a:spcBef>
                <a:spcPts val="800"/>
              </a:spcBef>
              <a:spcAft>
                <a:spcPts val="0"/>
              </a:spcAft>
              <a:buClr>
                <a:schemeClr val="dk1"/>
              </a:buClr>
              <a:buSzPts val="1100"/>
              <a:buFont typeface="Arial"/>
              <a:buNone/>
            </a:pPr>
            <a:endParaRPr sz="1500" b="1" dirty="0">
              <a:solidFill>
                <a:schemeClr val="tx1"/>
              </a:solidFill>
              <a:latin typeface="Times New Roman" panose="02020603050405020304" pitchFamily="18" charset="0"/>
              <a:cs typeface="Times New Roman" panose="02020603050405020304" pitchFamily="18" charset="0"/>
            </a:endParaRPr>
          </a:p>
          <a:p>
            <a:pPr marL="0" lvl="0" indent="0" algn="ctr" rtl="0">
              <a:spcBef>
                <a:spcPts val="1080"/>
              </a:spcBef>
              <a:spcAft>
                <a:spcPts val="0"/>
              </a:spcAft>
              <a:buClr>
                <a:schemeClr val="dk1"/>
              </a:buClr>
              <a:buSzPts val="1400"/>
              <a:buFont typeface="Arial"/>
              <a:buNone/>
            </a:pPr>
            <a:endParaRPr sz="1500" b="1" dirty="0">
              <a:solidFill>
                <a:schemeClr val="dk1"/>
              </a:solidFill>
              <a:latin typeface="Times New Roman"/>
              <a:ea typeface="Times New Roman"/>
              <a:cs typeface="Times New Roman"/>
              <a:sym typeface="Times New Roman"/>
            </a:endParaRPr>
          </a:p>
        </p:txBody>
      </p:sp>
      <p:pic>
        <p:nvPicPr>
          <p:cNvPr id="2" name="Picture 1">
            <a:extLst>
              <a:ext uri="{FF2B5EF4-FFF2-40B4-BE49-F238E27FC236}">
                <a16:creationId xmlns:a16="http://schemas.microsoft.com/office/drawing/2014/main" id="{85A36612-658E-2127-1B68-0DE2D7254E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568" y="1580589"/>
            <a:ext cx="3219170" cy="2414271"/>
          </a:xfrm>
          <a:prstGeom prst="rect">
            <a:avLst/>
          </a:prstGeom>
        </p:spPr>
      </p:pic>
      <p:pic>
        <p:nvPicPr>
          <p:cNvPr id="4" name="Picture 3">
            <a:extLst>
              <a:ext uri="{FF2B5EF4-FFF2-40B4-BE49-F238E27FC236}">
                <a16:creationId xmlns:a16="http://schemas.microsoft.com/office/drawing/2014/main" id="{13D18242-8F66-2ECC-5899-09687519EA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80519" y="1580588"/>
            <a:ext cx="3219170" cy="2414271"/>
          </a:xfrm>
          <a:prstGeom prst="rect">
            <a:avLst/>
          </a:prstGeom>
        </p:spPr>
      </p:pic>
    </p:spTree>
    <p:extLst>
      <p:ext uri="{BB962C8B-B14F-4D97-AF65-F5344CB8AC3E}">
        <p14:creationId xmlns:p14="http://schemas.microsoft.com/office/powerpoint/2010/main" val="1548565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1"/>
          <p:cNvSpPr txBox="1">
            <a:spLocks noGrp="1"/>
          </p:cNvSpPr>
          <p:nvPr>
            <p:ph type="ctrTitle"/>
          </p:nvPr>
        </p:nvSpPr>
        <p:spPr>
          <a:xfrm>
            <a:off x="1524000" y="89075"/>
            <a:ext cx="7391400" cy="800100"/>
          </a:xfrm>
          <a:prstGeom prst="rect">
            <a:avLst/>
          </a:prstGeom>
          <a:solidFill>
            <a:srgbClr val="009900"/>
          </a:solidFill>
          <a:ln>
            <a:noFill/>
          </a:ln>
          <a:effectLst>
            <a:outerShdw blurRad="40000" dist="20000" dir="5400000" rotWithShape="0">
              <a:srgbClr val="000000">
                <a:alpha val="3765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RESULTS AND DISCUSSIONS</a:t>
            </a:r>
            <a:endParaRPr/>
          </a:p>
        </p:txBody>
      </p:sp>
      <p:sp>
        <p:nvSpPr>
          <p:cNvPr id="276" name="Google Shape;276;p41"/>
          <p:cNvSpPr txBox="1">
            <a:spLocks noGrp="1"/>
          </p:cNvSpPr>
          <p:nvPr>
            <p:ph type="subTitle" idx="1"/>
          </p:nvPr>
        </p:nvSpPr>
        <p:spPr>
          <a:xfrm>
            <a:off x="457200" y="1016075"/>
            <a:ext cx="8458200" cy="35433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lvl="0" indent="0" algn="just" rtl="0">
              <a:spcBef>
                <a:spcPts val="800"/>
              </a:spcBef>
              <a:spcAft>
                <a:spcPts val="0"/>
              </a:spcAft>
              <a:buClr>
                <a:schemeClr val="dk1"/>
              </a:buClr>
              <a:buSzPts val="1100"/>
              <a:buFont typeface="Arial"/>
              <a:buNone/>
            </a:pPr>
            <a:endParaRPr lang="en-US" sz="1500" b="1" dirty="0">
              <a:solidFill>
                <a:schemeClr val="tx1"/>
              </a:solidFill>
              <a:latin typeface="Times New Roman" panose="02020603050405020304" pitchFamily="18" charset="0"/>
              <a:cs typeface="Times New Roman" panose="02020603050405020304" pitchFamily="18" charset="0"/>
            </a:endParaRPr>
          </a:p>
          <a:p>
            <a:pPr marL="0" lvl="0" indent="0" algn="just" rtl="0">
              <a:spcBef>
                <a:spcPts val="800"/>
              </a:spcBef>
              <a:spcAft>
                <a:spcPts val="0"/>
              </a:spcAft>
              <a:buClr>
                <a:schemeClr val="dk1"/>
              </a:buClr>
              <a:buSzPts val="1100"/>
              <a:buFont typeface="Arial"/>
              <a:buNone/>
            </a:pPr>
            <a:endParaRPr lang="en-US" sz="1500" b="1" dirty="0">
              <a:solidFill>
                <a:schemeClr val="tx1"/>
              </a:solidFill>
              <a:latin typeface="Times New Roman" panose="02020603050405020304" pitchFamily="18" charset="0"/>
              <a:cs typeface="Times New Roman" panose="02020603050405020304" pitchFamily="18" charset="0"/>
            </a:endParaRPr>
          </a:p>
          <a:p>
            <a:pPr marL="0" lvl="0" indent="0" algn="just" rtl="0">
              <a:spcBef>
                <a:spcPts val="800"/>
              </a:spcBef>
              <a:spcAft>
                <a:spcPts val="0"/>
              </a:spcAft>
              <a:buClr>
                <a:schemeClr val="dk1"/>
              </a:buClr>
              <a:buSzPts val="1100"/>
              <a:buFont typeface="Arial"/>
              <a:buNone/>
            </a:pPr>
            <a:endParaRPr lang="en-US" sz="1500" b="1" dirty="0">
              <a:solidFill>
                <a:schemeClr val="tx1"/>
              </a:solidFill>
              <a:latin typeface="Times New Roman" panose="02020603050405020304" pitchFamily="18" charset="0"/>
              <a:cs typeface="Times New Roman" panose="02020603050405020304" pitchFamily="18" charset="0"/>
            </a:endParaRPr>
          </a:p>
          <a:p>
            <a:pPr marL="0" lvl="0" indent="0" algn="just" rtl="0">
              <a:spcBef>
                <a:spcPts val="800"/>
              </a:spcBef>
              <a:spcAft>
                <a:spcPts val="0"/>
              </a:spcAft>
              <a:buClr>
                <a:schemeClr val="dk1"/>
              </a:buClr>
              <a:buSzPts val="1100"/>
              <a:buFont typeface="Arial"/>
              <a:buNone/>
            </a:pPr>
            <a:endParaRPr lang="en-US" sz="1500" b="1" dirty="0">
              <a:solidFill>
                <a:schemeClr val="tx1"/>
              </a:solidFill>
              <a:latin typeface="Times New Roman" panose="02020603050405020304" pitchFamily="18" charset="0"/>
              <a:cs typeface="Times New Roman" panose="02020603050405020304" pitchFamily="18" charset="0"/>
            </a:endParaRPr>
          </a:p>
          <a:p>
            <a:pPr marL="0" lvl="0" indent="0" algn="just" rtl="0">
              <a:spcBef>
                <a:spcPts val="800"/>
              </a:spcBef>
              <a:spcAft>
                <a:spcPts val="0"/>
              </a:spcAft>
              <a:buClr>
                <a:schemeClr val="dk1"/>
              </a:buClr>
              <a:buSzPts val="1100"/>
              <a:buFont typeface="Arial"/>
              <a:buNone/>
            </a:pPr>
            <a:endParaRPr lang="en-US" sz="1500" b="1" dirty="0">
              <a:solidFill>
                <a:schemeClr val="tx1"/>
              </a:solidFill>
              <a:latin typeface="Times New Roman" panose="02020603050405020304" pitchFamily="18" charset="0"/>
              <a:cs typeface="Times New Roman" panose="02020603050405020304" pitchFamily="18" charset="0"/>
            </a:endParaRPr>
          </a:p>
          <a:p>
            <a:pPr marL="0" lvl="0" indent="0" algn="just" rtl="0">
              <a:spcBef>
                <a:spcPts val="800"/>
              </a:spcBef>
              <a:spcAft>
                <a:spcPts val="0"/>
              </a:spcAft>
              <a:buClr>
                <a:schemeClr val="dk1"/>
              </a:buClr>
              <a:buSzPts val="1100"/>
              <a:buFont typeface="Arial"/>
              <a:buNone/>
            </a:pPr>
            <a:endParaRPr lang="en-US" sz="1500" b="1" dirty="0">
              <a:solidFill>
                <a:schemeClr val="tx1"/>
              </a:solidFill>
              <a:latin typeface="Times New Roman" panose="02020603050405020304" pitchFamily="18" charset="0"/>
              <a:cs typeface="Times New Roman" panose="02020603050405020304" pitchFamily="18" charset="0"/>
            </a:endParaRPr>
          </a:p>
          <a:p>
            <a:pPr marL="0" lvl="0" indent="0" algn="just" rtl="0">
              <a:spcBef>
                <a:spcPts val="800"/>
              </a:spcBef>
              <a:spcAft>
                <a:spcPts val="0"/>
              </a:spcAft>
              <a:buClr>
                <a:schemeClr val="dk1"/>
              </a:buClr>
              <a:buSzPts val="1100"/>
              <a:buFont typeface="Arial"/>
              <a:buNone/>
            </a:pPr>
            <a:endParaRPr lang="en-US" sz="1500" b="1" dirty="0">
              <a:solidFill>
                <a:schemeClr val="tx1"/>
              </a:solidFill>
              <a:latin typeface="Times New Roman" panose="02020603050405020304" pitchFamily="18" charset="0"/>
              <a:cs typeface="Times New Roman" panose="02020603050405020304" pitchFamily="18" charset="0"/>
            </a:endParaRPr>
          </a:p>
          <a:p>
            <a:pPr marL="0" lvl="0" indent="0" algn="just" rtl="0">
              <a:spcBef>
                <a:spcPts val="800"/>
              </a:spcBef>
              <a:spcAft>
                <a:spcPts val="0"/>
              </a:spcAft>
              <a:buClr>
                <a:schemeClr val="dk1"/>
              </a:buClr>
              <a:buSzPts val="1100"/>
              <a:buFont typeface="Arial"/>
              <a:buNone/>
            </a:pPr>
            <a:endParaRPr lang="en-US" sz="1500" b="1" dirty="0">
              <a:solidFill>
                <a:schemeClr val="tx1"/>
              </a:solidFill>
              <a:latin typeface="Times New Roman" panose="02020603050405020304" pitchFamily="18" charset="0"/>
              <a:cs typeface="Times New Roman" panose="02020603050405020304" pitchFamily="18" charset="0"/>
            </a:endParaRPr>
          </a:p>
          <a:p>
            <a:pPr marL="0" lvl="0" indent="0" algn="just" rtl="0">
              <a:spcBef>
                <a:spcPts val="800"/>
              </a:spcBef>
              <a:spcAft>
                <a:spcPts val="0"/>
              </a:spcAft>
              <a:buClr>
                <a:schemeClr val="dk1"/>
              </a:buClr>
              <a:buSzPts val="1100"/>
              <a:buFont typeface="Arial"/>
              <a:buNone/>
            </a:pPr>
            <a:r>
              <a:rPr lang="en-US" sz="1200" dirty="0">
                <a:solidFill>
                  <a:schemeClr val="tx1"/>
                </a:solidFill>
                <a:latin typeface="Times New Roman" panose="02020603050405020304" pitchFamily="18" charset="0"/>
                <a:cs typeface="Times New Roman" panose="02020603050405020304" pitchFamily="18" charset="0"/>
              </a:rPr>
              <a:t>From the SEM analysis, there is a clear formation of various structures of the materials used, like the smooth patches formed by glass, chip-like structures by the Alumina, and spheres formed by Copper Oxide. The sintering process delivered the required results and the structures are clearly visible from these images.</a:t>
            </a:r>
            <a:endParaRPr sz="1200" dirty="0">
              <a:solidFill>
                <a:schemeClr val="tx1"/>
              </a:solidFill>
              <a:latin typeface="Times New Roman" panose="02020603050405020304" pitchFamily="18" charset="0"/>
              <a:cs typeface="Times New Roman" panose="02020603050405020304" pitchFamily="18" charset="0"/>
            </a:endParaRPr>
          </a:p>
          <a:p>
            <a:pPr marL="0" lvl="0" indent="0" algn="ctr" rtl="0">
              <a:spcBef>
                <a:spcPts val="1080"/>
              </a:spcBef>
              <a:spcAft>
                <a:spcPts val="0"/>
              </a:spcAft>
              <a:buClr>
                <a:schemeClr val="dk1"/>
              </a:buClr>
              <a:buSzPts val="1400"/>
              <a:buFont typeface="Arial"/>
              <a:buNone/>
            </a:pPr>
            <a:endParaRPr sz="1500" b="1" dirty="0">
              <a:solidFill>
                <a:schemeClr val="dk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39FA985D-0AED-4E5F-966A-0F06D6262A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1842" y="1180552"/>
            <a:ext cx="3142933" cy="2357096"/>
          </a:xfrm>
          <a:prstGeom prst="rect">
            <a:avLst/>
          </a:prstGeom>
        </p:spPr>
      </p:pic>
      <p:pic>
        <p:nvPicPr>
          <p:cNvPr id="5" name="Picture 4">
            <a:extLst>
              <a:ext uri="{FF2B5EF4-FFF2-40B4-BE49-F238E27FC236}">
                <a16:creationId xmlns:a16="http://schemas.microsoft.com/office/drawing/2014/main" id="{F8E1ED97-5EA9-61EA-8809-B8E0759A519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43620" y="1180552"/>
            <a:ext cx="3142934" cy="2357096"/>
          </a:xfrm>
          <a:prstGeom prst="rect">
            <a:avLst/>
          </a:prstGeom>
        </p:spPr>
      </p:pic>
    </p:spTree>
    <p:extLst>
      <p:ext uri="{BB962C8B-B14F-4D97-AF65-F5344CB8AC3E}">
        <p14:creationId xmlns:p14="http://schemas.microsoft.com/office/powerpoint/2010/main" val="11861369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2"/>
          <p:cNvSpPr txBox="1">
            <a:spLocks noGrp="1"/>
          </p:cNvSpPr>
          <p:nvPr>
            <p:ph type="ctrTitle"/>
          </p:nvPr>
        </p:nvSpPr>
        <p:spPr>
          <a:xfrm>
            <a:off x="1524000" y="114300"/>
            <a:ext cx="7391400" cy="800100"/>
          </a:xfrm>
          <a:prstGeom prst="rect">
            <a:avLst/>
          </a:prstGeom>
          <a:solidFill>
            <a:srgbClr val="009900"/>
          </a:solidFill>
          <a:ln>
            <a:noFill/>
          </a:ln>
          <a:effectLst>
            <a:outerShdw blurRad="40000" dist="20000" dir="5400000" rotWithShape="0">
              <a:srgbClr val="000000">
                <a:alpha val="3765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CONCLUSIONS</a:t>
            </a:r>
            <a:endParaRPr/>
          </a:p>
        </p:txBody>
      </p:sp>
      <p:sp>
        <p:nvSpPr>
          <p:cNvPr id="282" name="Google Shape;282;p42"/>
          <p:cNvSpPr txBox="1">
            <a:spLocks noGrp="1"/>
          </p:cNvSpPr>
          <p:nvPr>
            <p:ph type="subTitle" idx="1"/>
          </p:nvPr>
        </p:nvSpPr>
        <p:spPr>
          <a:xfrm>
            <a:off x="457200" y="1016075"/>
            <a:ext cx="8458200" cy="3635400"/>
          </a:xfrm>
          <a:prstGeom prst="rect">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t" anchorCtr="0">
            <a:noAutofit/>
          </a:bodyPr>
          <a:lstStyle/>
          <a:p>
            <a:pPr marL="0" marR="1332230" lvl="0" indent="0" algn="l" rtl="0">
              <a:lnSpc>
                <a:spcPct val="100000"/>
              </a:lnSpc>
              <a:spcBef>
                <a:spcPts val="300"/>
              </a:spcBef>
              <a:spcAft>
                <a:spcPts val="0"/>
              </a:spcAft>
              <a:buClr>
                <a:schemeClr val="dk1"/>
              </a:buClr>
              <a:buSzPts val="1100"/>
              <a:buFont typeface="Arial"/>
              <a:buNone/>
            </a:pPr>
            <a:r>
              <a:rPr lang="en" sz="1500" b="1" dirty="0">
                <a:solidFill>
                  <a:schemeClr val="dk1"/>
                </a:solidFill>
                <a:latin typeface="Times New Roman"/>
                <a:ea typeface="Times New Roman"/>
                <a:cs typeface="Times New Roman"/>
                <a:sym typeface="Times New Roman"/>
              </a:rPr>
              <a:t>CONCLUSIONS: </a:t>
            </a:r>
            <a:endParaRPr sz="1500" b="1" dirty="0">
              <a:solidFill>
                <a:schemeClr val="dk1"/>
              </a:solidFill>
              <a:latin typeface="Times New Roman"/>
              <a:ea typeface="Times New Roman"/>
              <a:cs typeface="Times New Roman"/>
              <a:sym typeface="Times New Roman"/>
            </a:endParaRPr>
          </a:p>
          <a:p>
            <a:pPr marL="0" lvl="0" indent="0" algn="just" rtl="0">
              <a:spcBef>
                <a:spcPts val="0"/>
              </a:spcBef>
              <a:spcAft>
                <a:spcPts val="800"/>
              </a:spcAft>
              <a:buClr>
                <a:schemeClr val="dk1"/>
              </a:buClr>
              <a:buSzPts val="1100"/>
              <a:buFont typeface="Arial"/>
              <a:buNone/>
            </a:pPr>
            <a:r>
              <a:rPr lang="en-US" sz="1300" dirty="0">
                <a:solidFill>
                  <a:schemeClr val="dk1"/>
                </a:solidFill>
                <a:latin typeface="Times New Roman"/>
                <a:ea typeface="Times New Roman"/>
                <a:cs typeface="Times New Roman"/>
                <a:sym typeface="Times New Roman"/>
              </a:rPr>
              <a:t>In summary, the addition of Alumina (Al2O3) and Copper Oxide (</a:t>
            </a:r>
            <a:r>
              <a:rPr lang="en-US" sz="1300" dirty="0" err="1">
                <a:solidFill>
                  <a:schemeClr val="dk1"/>
                </a:solidFill>
                <a:latin typeface="Times New Roman"/>
                <a:ea typeface="Times New Roman"/>
                <a:cs typeface="Times New Roman"/>
                <a:sym typeface="Times New Roman"/>
              </a:rPr>
              <a:t>CuO</a:t>
            </a:r>
            <a:r>
              <a:rPr lang="en-US" sz="1300" dirty="0">
                <a:solidFill>
                  <a:schemeClr val="dk1"/>
                </a:solidFill>
                <a:latin typeface="Times New Roman"/>
                <a:ea typeface="Times New Roman"/>
                <a:cs typeface="Times New Roman"/>
                <a:sym typeface="Times New Roman"/>
              </a:rPr>
              <a:t>) to the Borosilicate composite has improved the structure, microstructure, and mechanical hardness. The highest hardness values were obtained with 10% Alumina (Al2O3) and 90% Borosilicate, and the next highest with a composite of all three materials. Adding Alumina (Al2O3) initially increases hardness, but further addition reduces it, while adding Copper Oxide (</a:t>
            </a:r>
            <a:r>
              <a:rPr lang="en-US" sz="1300" dirty="0" err="1">
                <a:solidFill>
                  <a:schemeClr val="dk1"/>
                </a:solidFill>
                <a:latin typeface="Times New Roman"/>
                <a:ea typeface="Times New Roman"/>
                <a:cs typeface="Times New Roman"/>
                <a:sym typeface="Times New Roman"/>
              </a:rPr>
              <a:t>CuO</a:t>
            </a:r>
            <a:r>
              <a:rPr lang="en-US" sz="1300" dirty="0">
                <a:solidFill>
                  <a:schemeClr val="dk1"/>
                </a:solidFill>
                <a:latin typeface="Times New Roman"/>
                <a:ea typeface="Times New Roman"/>
                <a:cs typeface="Times New Roman"/>
                <a:sym typeface="Times New Roman"/>
              </a:rPr>
              <a:t>) increases hardness with increasing </a:t>
            </a:r>
            <a:r>
              <a:rPr lang="en-US" sz="1300" dirty="0" err="1">
                <a:solidFill>
                  <a:schemeClr val="dk1"/>
                </a:solidFill>
                <a:latin typeface="Times New Roman"/>
                <a:ea typeface="Times New Roman"/>
                <a:cs typeface="Times New Roman"/>
                <a:sym typeface="Times New Roman"/>
              </a:rPr>
              <a:t>wt</a:t>
            </a:r>
            <a:r>
              <a:rPr lang="en-US" sz="1300" dirty="0">
                <a:solidFill>
                  <a:schemeClr val="dk1"/>
                </a:solidFill>
                <a:latin typeface="Times New Roman"/>
                <a:ea typeface="Times New Roman"/>
                <a:cs typeface="Times New Roman"/>
                <a:sym typeface="Times New Roman"/>
              </a:rPr>
              <a:t>%. Overall, the composite materials showed improved properties compared to the original 100% Borosilicate composition.</a:t>
            </a:r>
          </a:p>
          <a:p>
            <a:pPr marL="0" lvl="0" indent="0" algn="just" rtl="0">
              <a:spcBef>
                <a:spcPts val="0"/>
              </a:spcBef>
              <a:spcAft>
                <a:spcPts val="800"/>
              </a:spcAft>
              <a:buClr>
                <a:schemeClr val="dk1"/>
              </a:buClr>
              <a:buSzPts val="1100"/>
              <a:buFont typeface="Arial"/>
              <a:buNone/>
            </a:pPr>
            <a:endParaRPr lang="en-US" sz="1300" dirty="0">
              <a:solidFill>
                <a:schemeClr val="dk1"/>
              </a:solidFill>
              <a:latin typeface="Times New Roman"/>
              <a:ea typeface="Times New Roman"/>
              <a:cs typeface="Times New Roman"/>
              <a:sym typeface="Times New Roman"/>
            </a:endParaRPr>
          </a:p>
          <a:p>
            <a:pPr marL="0" indent="0" algn="just">
              <a:spcBef>
                <a:spcPts val="0"/>
              </a:spcBef>
              <a:spcAft>
                <a:spcPts val="800"/>
              </a:spcAft>
              <a:buClr>
                <a:schemeClr val="dk1"/>
              </a:buClr>
              <a:buSzPts val="1100"/>
            </a:pPr>
            <a:r>
              <a:rPr lang="en-IN" sz="1400" b="1" dirty="0">
                <a:solidFill>
                  <a:schemeClr val="dk1"/>
                </a:solidFill>
                <a:latin typeface="Times New Roman"/>
                <a:ea typeface="Times New Roman"/>
                <a:cs typeface="Times New Roman"/>
                <a:sym typeface="Times New Roman"/>
              </a:rPr>
              <a:t>FUTURE SCOPE: </a:t>
            </a:r>
            <a:endParaRPr lang="en-US" sz="1300" b="1" dirty="0">
              <a:solidFill>
                <a:schemeClr val="dk1"/>
              </a:solidFill>
              <a:latin typeface="Times New Roman"/>
              <a:ea typeface="Times New Roman"/>
              <a:cs typeface="Times New Roman"/>
              <a:sym typeface="Times New Roman"/>
            </a:endParaRPr>
          </a:p>
          <a:p>
            <a:pPr marL="0" indent="0" algn="just">
              <a:spcBef>
                <a:spcPts val="0"/>
              </a:spcBef>
              <a:spcAft>
                <a:spcPts val="800"/>
              </a:spcAft>
              <a:buClr>
                <a:schemeClr val="dk1"/>
              </a:buClr>
              <a:buSzPts val="1100"/>
            </a:pPr>
            <a:r>
              <a:rPr lang="en-US" sz="1300" dirty="0">
                <a:solidFill>
                  <a:schemeClr val="dk1"/>
                </a:solidFill>
                <a:latin typeface="Times New Roman"/>
                <a:ea typeface="Times New Roman"/>
                <a:cs typeface="Times New Roman"/>
                <a:sym typeface="Times New Roman"/>
              </a:rPr>
              <a:t>The research done till this point through this project proves that a slight addition of Alumina and Copper Oxide to the borosilicate composite can improve its properties by a substantial value and shows a better microstructure of the pellets. While this project has achieved its main objective of improving the said properties of Borosilicate, there are several areas where the project can be extended and improved. New materials and more cost-efficient materials may be used for the composite preparation. More compositions and more precise compositions can be tried for the same materials. The sintering process can be replaced by the glass preparation process to achieve a better </a:t>
            </a:r>
          </a:p>
          <a:p>
            <a:pPr marL="0" lvl="0" indent="0" algn="just" rtl="0">
              <a:spcBef>
                <a:spcPts val="0"/>
              </a:spcBef>
              <a:spcAft>
                <a:spcPts val="800"/>
              </a:spcAft>
              <a:buClr>
                <a:schemeClr val="dk1"/>
              </a:buClr>
              <a:buSzPts val="1100"/>
              <a:buFont typeface="Arial"/>
              <a:buNone/>
            </a:pPr>
            <a:endParaRPr lang="en-US" sz="14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4"/>
          <p:cNvSpPr txBox="1">
            <a:spLocks noGrp="1"/>
          </p:cNvSpPr>
          <p:nvPr>
            <p:ph type="ctrTitle"/>
          </p:nvPr>
        </p:nvSpPr>
        <p:spPr>
          <a:xfrm>
            <a:off x="1524000" y="114300"/>
            <a:ext cx="7391400" cy="800100"/>
          </a:xfrm>
          <a:prstGeom prst="rect">
            <a:avLst/>
          </a:prstGeom>
          <a:solidFill>
            <a:srgbClr val="00990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rgbClr val="FFFF00"/>
              </a:buClr>
              <a:buSzPts val="2800"/>
              <a:buFont typeface="Bookman Old Style"/>
              <a:buNone/>
            </a:pPr>
            <a:r>
              <a:rPr lang="en" sz="2800" b="1">
                <a:solidFill>
                  <a:srgbClr val="FFFF00"/>
                </a:solidFill>
                <a:latin typeface="Bookman Old Style"/>
                <a:ea typeface="Bookman Old Style"/>
                <a:cs typeface="Bookman Old Style"/>
                <a:sym typeface="Bookman Old Style"/>
              </a:rPr>
              <a:t>References</a:t>
            </a:r>
            <a:endParaRPr/>
          </a:p>
        </p:txBody>
      </p:sp>
      <p:sp>
        <p:nvSpPr>
          <p:cNvPr id="294" name="Google Shape;294;p44"/>
          <p:cNvSpPr txBox="1">
            <a:spLocks noGrp="1"/>
          </p:cNvSpPr>
          <p:nvPr>
            <p:ph type="subTitle" idx="1"/>
          </p:nvPr>
        </p:nvSpPr>
        <p:spPr>
          <a:xfrm>
            <a:off x="457200" y="1028700"/>
            <a:ext cx="8458200" cy="36714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342900" marR="144145" lvl="0" indent="-241300" algn="just" rtl="0">
              <a:spcBef>
                <a:spcPts val="1120"/>
              </a:spcBef>
              <a:spcAft>
                <a:spcPts val="0"/>
              </a:spcAft>
              <a:buClr>
                <a:srgbClr val="888888"/>
              </a:buClr>
              <a:buSzPts val="1600"/>
              <a:buFont typeface="Calibri"/>
              <a:buNone/>
            </a:pPr>
            <a:r>
              <a:rPr lang="en" sz="1200" i="1" dirty="0">
                <a:solidFill>
                  <a:schemeClr val="dk1"/>
                </a:solidFill>
                <a:latin typeface="Times New Roman"/>
                <a:ea typeface="Times New Roman"/>
                <a:cs typeface="Times New Roman"/>
                <a:sym typeface="Times New Roman"/>
              </a:rPr>
              <a:t>[1] D. Ramakanth, S. Singh, P. K. Maji, Y. S. Lee, and K. K. Gaikwad, “Advanced packaging for distribution and storage of COVID-19 vaccines: a review,” Environ. Chem. Lett., vol. 19, no. 5, pp. 3597–3608, 2021, doi: 10.1007/s10311-021-01256-1.</a:t>
            </a:r>
            <a:endParaRPr sz="1200" i="1" dirty="0">
              <a:solidFill>
                <a:schemeClr val="dk1"/>
              </a:solidFill>
              <a:latin typeface="Times New Roman"/>
              <a:ea typeface="Times New Roman"/>
              <a:cs typeface="Times New Roman"/>
              <a:sym typeface="Times New Roman"/>
            </a:endParaRPr>
          </a:p>
          <a:p>
            <a:pPr marL="342900" marR="144145" lvl="0" indent="-241300" algn="just" rtl="0">
              <a:spcBef>
                <a:spcPts val="1120"/>
              </a:spcBef>
              <a:spcAft>
                <a:spcPts val="0"/>
              </a:spcAft>
              <a:buClr>
                <a:srgbClr val="888888"/>
              </a:buClr>
              <a:buSzPts val="1600"/>
              <a:buFont typeface="Calibri"/>
              <a:buNone/>
            </a:pPr>
            <a:r>
              <a:rPr lang="en" sz="1200" i="1" dirty="0">
                <a:solidFill>
                  <a:schemeClr val="dk1"/>
                </a:solidFill>
                <a:latin typeface="Times New Roman"/>
                <a:ea typeface="Times New Roman"/>
                <a:cs typeface="Times New Roman"/>
                <a:sym typeface="Times New Roman"/>
              </a:rPr>
              <a:t>[2] A. Wereszczak, K. Johanns, C. J. Anderson, T. Behner, and P. Patel, “Strength and contact damage responses in a soda-lime-silicate and a borosilicate glass,” no. OCTOBER 2006, 2006, [Online]. Available: </a:t>
            </a:r>
            <a:endParaRPr sz="1200" i="1" dirty="0">
              <a:solidFill>
                <a:schemeClr val="dk1"/>
              </a:solidFill>
              <a:latin typeface="Times New Roman"/>
              <a:ea typeface="Times New Roman"/>
              <a:cs typeface="Times New Roman"/>
              <a:sym typeface="Times New Roman"/>
            </a:endParaRPr>
          </a:p>
          <a:p>
            <a:pPr marL="342900" marR="144145" lvl="0" indent="-241300" algn="just" rtl="0">
              <a:spcBef>
                <a:spcPts val="1120"/>
              </a:spcBef>
              <a:spcAft>
                <a:spcPts val="0"/>
              </a:spcAft>
              <a:buClr>
                <a:srgbClr val="888888"/>
              </a:buClr>
              <a:buSzPts val="1600"/>
              <a:buFont typeface="Calibri"/>
              <a:buNone/>
            </a:pPr>
            <a:r>
              <a:rPr lang="en" sz="1200" i="1" dirty="0">
                <a:solidFill>
                  <a:schemeClr val="dk1"/>
                </a:solidFill>
                <a:latin typeface="Times New Roman"/>
                <a:ea typeface="Times New Roman"/>
                <a:cs typeface="Times New Roman"/>
                <a:sym typeface="Times New Roman"/>
              </a:rPr>
              <a:t>[3] S. Bruns et al., “Influence of Al2O3 Addition on Structure and Mechanical Properties of Borosilicate Glasses,” Front. Mater., vol. 7, p. 189, Jul. 2020, doi: 10.3389/FMATS.2020.00189/BIBTEX.</a:t>
            </a:r>
            <a:endParaRPr sz="1200" i="1" dirty="0">
              <a:solidFill>
                <a:schemeClr val="dk1"/>
              </a:solidFill>
              <a:latin typeface="Times New Roman"/>
              <a:ea typeface="Times New Roman"/>
              <a:cs typeface="Times New Roman"/>
              <a:sym typeface="Times New Roman"/>
            </a:endParaRPr>
          </a:p>
          <a:p>
            <a:pPr marL="342900" marR="144145" lvl="0" indent="-285750" algn="just" rtl="0">
              <a:spcBef>
                <a:spcPts val="1120"/>
              </a:spcBef>
              <a:spcAft>
                <a:spcPts val="0"/>
              </a:spcAft>
              <a:buClr>
                <a:srgbClr val="888888"/>
              </a:buClr>
              <a:buSzPts val="1600"/>
              <a:buFont typeface="Calibri"/>
              <a:buNone/>
            </a:pPr>
            <a:r>
              <a:rPr lang="en" sz="1200" i="1" dirty="0">
                <a:solidFill>
                  <a:schemeClr val="dk1"/>
                </a:solidFill>
                <a:latin typeface="Times New Roman"/>
                <a:ea typeface="Times New Roman"/>
                <a:cs typeface="Times New Roman"/>
                <a:sym typeface="Times New Roman"/>
              </a:rPr>
              <a:t> [4] P. Aly, A. A. El-Kheshen, H. Abou-Gabal, and S. Agamy, “Structural investigation and measurement of the shielding effect of borosilicate glass containing PbO, SrO, and BaO against gamma irradiation,” J. Phys. Chem. Solids, vol. 145, no. April, p. 109521, 2020, doi: 10.1016/j.jpcs.2020.109521.</a:t>
            </a:r>
            <a:endParaRPr sz="1200" i="1" dirty="0">
              <a:solidFill>
                <a:schemeClr val="dk1"/>
              </a:solidFill>
              <a:latin typeface="Times New Roman"/>
              <a:ea typeface="Times New Roman"/>
              <a:cs typeface="Times New Roman"/>
              <a:sym typeface="Times New Roman"/>
            </a:endParaRPr>
          </a:p>
          <a:p>
            <a:pPr marL="342900" marR="144145" lvl="0" indent="-241300" algn="just" rtl="0">
              <a:spcBef>
                <a:spcPts val="1120"/>
              </a:spcBef>
              <a:spcAft>
                <a:spcPts val="0"/>
              </a:spcAft>
              <a:buClr>
                <a:srgbClr val="888888"/>
              </a:buClr>
              <a:buSzPts val="1600"/>
              <a:buFont typeface="Calibri"/>
              <a:buNone/>
            </a:pPr>
            <a:r>
              <a:rPr lang="en" sz="1200" i="1" dirty="0">
                <a:solidFill>
                  <a:schemeClr val="dk1"/>
                </a:solidFill>
                <a:latin typeface="Times New Roman"/>
                <a:ea typeface="Times New Roman"/>
                <a:cs typeface="Times New Roman"/>
                <a:sym typeface="Times New Roman"/>
              </a:rPr>
              <a:t>[5]R. K. Chinnam, A. R. Boccaccini, E. Bernardo, and H. Epstein, “Glass-ceramic composites from borosilicate glass and alumina-rich residues,” Int. J. Appl. Ceram. Technol., vol. 12, no. S2, pp. E19–E27, 2015, doi: 10.1111/ijac.12197.</a:t>
            </a:r>
            <a:endParaRPr sz="1200" i="1" dirty="0">
              <a:solidFill>
                <a:schemeClr val="dk1"/>
              </a:solidFill>
              <a:latin typeface="Times New Roman"/>
              <a:ea typeface="Times New Roman"/>
              <a:cs typeface="Times New Roman"/>
              <a:sym typeface="Times New Roman"/>
            </a:endParaRPr>
          </a:p>
          <a:p>
            <a:pPr marL="342900" marR="144145" lvl="0" indent="-241300" algn="just" rtl="0">
              <a:spcBef>
                <a:spcPts val="1120"/>
              </a:spcBef>
              <a:spcAft>
                <a:spcPts val="0"/>
              </a:spcAft>
              <a:buClr>
                <a:srgbClr val="888888"/>
              </a:buClr>
              <a:buSzPts val="1600"/>
              <a:buFont typeface="Calibri"/>
              <a:buNone/>
            </a:pPr>
            <a:r>
              <a:rPr lang="en" sz="1200" i="1" dirty="0">
                <a:solidFill>
                  <a:schemeClr val="dk1"/>
                </a:solidFill>
                <a:latin typeface="Times New Roman"/>
                <a:ea typeface="Times New Roman"/>
                <a:cs typeface="Times New Roman"/>
                <a:sym typeface="Times New Roman"/>
              </a:rPr>
              <a:t>[6]G. Banu prakash, V. Katyal, V. S. R. Murthy, and G. S. Murty, “Mechanical behaviour of borosilicate glass-copper composites,” Compos. Part A Appl. Sci. Manuf., vol. 28, no. 9–10, pp. 861–867, 1997, doi: 10.1016/S1359-835X(97)00052-3.</a:t>
            </a:r>
            <a:endParaRPr sz="12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299" name="Google Shape;299;p45" descr="https://encrypted-tbn1.gstatic.com/images?q=tbn:ANd9GcSVs9SdGvfIcIZ9ce6VHgmsDDMv1uhPF_mzXHrvaeSj8D3bF5FZNQ"/>
          <p:cNvPicPr preferRelativeResize="0"/>
          <p:nvPr/>
        </p:nvPicPr>
        <p:blipFill rotWithShape="1">
          <a:blip r:embed="rId3">
            <a:alphaModFix/>
          </a:blip>
          <a:srcRect/>
          <a:stretch/>
        </p:blipFill>
        <p:spPr>
          <a:xfrm>
            <a:off x="1752600" y="1297678"/>
            <a:ext cx="4343400" cy="2879864"/>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2670</Words>
  <Application>Microsoft Office PowerPoint</Application>
  <PresentationFormat>On-screen Show (16:9)</PresentationFormat>
  <Paragraphs>217</Paragraphs>
  <Slides>23</Slides>
  <Notes>23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23</vt:i4>
      </vt:variant>
    </vt:vector>
  </HeadingPairs>
  <TitlesOfParts>
    <vt:vector size="29" baseType="lpstr">
      <vt:lpstr>Arial</vt:lpstr>
      <vt:lpstr>Bookman Old Style</vt:lpstr>
      <vt:lpstr>Calibri</vt:lpstr>
      <vt:lpstr>Times New Roman</vt:lpstr>
      <vt:lpstr>Simple Light</vt:lpstr>
      <vt:lpstr>Office Theme</vt:lpstr>
      <vt:lpstr>STUDY OF STRUCTURAL, MICROSTRUCTURAL AND MECHANICAL PROPERTIES OF BOROSILICATE-BASED GLASS-CERAMIC COMPOSITES</vt:lpstr>
      <vt:lpstr>Abstract</vt:lpstr>
      <vt:lpstr>Introduction to Composite Materials</vt:lpstr>
      <vt:lpstr>Introduction to Composite Materials</vt:lpstr>
      <vt:lpstr>Literature Review</vt:lpstr>
      <vt:lpstr>Literature Review</vt:lpstr>
      <vt:lpstr>Objectives</vt:lpstr>
      <vt:lpstr>Work Methodology</vt:lpstr>
      <vt:lpstr>Process Flow for Selection of Materials </vt:lpstr>
      <vt:lpstr>Properties of Available Reinforcements</vt:lpstr>
      <vt:lpstr>Selection of Materials</vt:lpstr>
      <vt:lpstr>PREPARATION OF COMPOSITE</vt:lpstr>
      <vt:lpstr>PREPARATION OF COMPOSITE</vt:lpstr>
      <vt:lpstr>PREPARATION OF COMPOSITE</vt:lpstr>
      <vt:lpstr>PREPARATION OF COMPOSITE</vt:lpstr>
      <vt:lpstr>RESULTS AND DISCUSSIONS</vt:lpstr>
      <vt:lpstr>RESULTS AND DISCUSSIONS</vt:lpstr>
      <vt:lpstr>RESULTS AND DISCUSSIONS</vt:lpstr>
      <vt:lpstr>RESULTS AND DISCUSSIONS</vt:lpstr>
      <vt:lpstr>RESULTS AND DISCUSSIONS</vt:lpstr>
      <vt:lpstr>CONCLUSIONS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 OF STRUCTURAL, MICROSTRUCTURAL AND MECHANICAL PROPERTIES OF BOROSILICATE-BASED GLASS-CERAMIC COMPOSITES</dc:title>
  <cp:lastModifiedBy>Siddardth Pathipaka</cp:lastModifiedBy>
  <cp:revision>3</cp:revision>
  <dcterms:modified xsi:type="dcterms:W3CDTF">2023-05-11T20:35:49Z</dcterms:modified>
</cp:coreProperties>
</file>